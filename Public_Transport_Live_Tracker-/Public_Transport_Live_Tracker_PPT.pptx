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5E"/>
        </a:solidFill>
      </p:bgPr>
    </p:bg>
    <p:spTree>
      <p:nvGrpSpPr>
        <p:cNvPr id="1" name=""/>
        <p:cNvGrpSpPr/>
        <p:nvPr/>
      </p:nvGrpSpPr>
      <p:grpSpPr>
        <a:xfrm>
          <a:off x="0" y="0"/>
          <a:ext cx="0" cy="0"/>
          <a:chOff x="0" y="0"/>
          <a:chExt cx="0" cy="0"/>
        </a:xfrm>
      </p:grpSpPr>
      <p:sp>
        <p:nvSpPr>
          <p:cNvPr id="2" name="Shape 0"/>
          <p:cNvSpPr/>
          <p:nvPr/>
        </p:nvSpPr>
        <p:spPr>
          <a:xfrm>
            <a:off x="6949440" y="-1097280"/>
            <a:ext cx="3291840" cy="3291840"/>
          </a:xfrm>
          <a:prstGeom prst="ellipse">
            <a:avLst/>
          </a:prstGeom>
          <a:solidFill>
            <a:srgbClr val="0B5C80"/>
          </a:solidFill>
          <a:ln w="12700">
            <a:solidFill>
              <a:srgbClr val="0B5C80"/>
            </a:solidFill>
            <a:prstDash val="solid"/>
          </a:ln>
        </p:spPr>
      </p:sp>
      <p:sp>
        <p:nvSpPr>
          <p:cNvPr id="3" name="Shape 1"/>
          <p:cNvSpPr/>
          <p:nvPr/>
        </p:nvSpPr>
        <p:spPr>
          <a:xfrm>
            <a:off x="457200" y="320040"/>
            <a:ext cx="1371600" cy="566928"/>
          </a:xfrm>
          <a:prstGeom prst="roundRect">
            <a:avLst>
              <a:gd name="adj" fmla="val 9677"/>
            </a:avLst>
          </a:prstGeom>
          <a:solidFill>
            <a:srgbClr val="FFFFFF"/>
          </a:solidFill>
          <a:ln w="12700">
            <a:solidFill>
              <a:srgbClr val="FFFFFF"/>
            </a:solidFill>
            <a:prstDash val="solid"/>
          </a:ln>
        </p:spPr>
      </p:sp>
      <p:pic>
        <p:nvPicPr>
          <p:cNvPr id="4" name="Image 0" descr="logo.png">    </p:cNvPr>
          <p:cNvPicPr>
            <a:picLocks noChangeAspect="1"/>
          </p:cNvPicPr>
          <p:nvPr/>
        </p:nvPicPr>
        <p:blipFill>
          <a:blip r:embed="rId1"/>
          <a:stretch>
            <a:fillRect/>
          </a:stretch>
        </p:blipFill>
        <p:spPr>
          <a:xfrm>
            <a:off x="530352" y="365760"/>
            <a:ext cx="1225296" cy="493776"/>
          </a:xfrm>
          <a:prstGeom prst="rect">
            <a:avLst/>
          </a:prstGeom>
        </p:spPr>
      </p:pic>
      <p:sp>
        <p:nvSpPr>
          <p:cNvPr id="5" name="Text 2"/>
          <p:cNvSpPr txBox="1"/>
          <p:nvPr/>
        </p:nvSpPr>
        <p:spPr>
          <a:xfrm>
            <a:off x="457200" y="1143000"/>
            <a:ext cx="6400800" cy="274320"/>
          </a:xfrm>
          <a:prstGeom prst="rect">
            <a:avLst/>
          </a:prstGeom>
          <a:noFill/>
          <a:ln/>
        </p:spPr>
        <p:txBody>
          <a:bodyPr wrap="square" lIns="0" tIns="0" rIns="0" bIns="0" rtlCol="0" anchor="ctr"/>
          <a:lstStyle/>
          <a:p>
            <a:pPr indent="0" marL="0">
              <a:buNone/>
            </a:pPr>
            <a:r>
              <a:rPr lang="en-US" sz="1000" b="1" spc="200" kern="0" dirty="0">
                <a:solidFill>
                  <a:srgbClr val="E8A33D"/>
                </a:solidFill>
              </a:rPr>
              <a:t>II YEAR B.TECH – I SEMESTER  |  CS&amp;IT  |  PROJECT REVIEW</a:t>
            </a:r>
            <a:endParaRPr lang="en-US" sz="1000" dirty="0"/>
          </a:p>
        </p:txBody>
      </p:sp>
      <p:sp>
        <p:nvSpPr>
          <p:cNvPr id="6" name="Text 3"/>
          <p:cNvSpPr txBox="1"/>
          <p:nvPr/>
        </p:nvSpPr>
        <p:spPr>
          <a:xfrm>
            <a:off x="457200" y="146304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Public Transport Live Tracker</a:t>
            </a:r>
            <a:endParaRPr lang="en-US" sz="3400" dirty="0"/>
          </a:p>
        </p:txBody>
      </p:sp>
      <p:sp>
        <p:nvSpPr>
          <p:cNvPr id="7" name="Text 4"/>
          <p:cNvSpPr txBox="1"/>
          <p:nvPr/>
        </p:nvSpPr>
        <p:spPr>
          <a:xfrm>
            <a:off x="457200" y="2148840"/>
            <a:ext cx="6583680" cy="640080"/>
          </a:xfrm>
          <a:prstGeom prst="rect">
            <a:avLst/>
          </a:prstGeom>
          <a:noFill/>
          <a:ln/>
        </p:spPr>
        <p:txBody>
          <a:bodyPr wrap="square" lIns="0" tIns="0" rIns="0" bIns="0" rtlCol="0" anchor="ctr"/>
          <a:lstStyle/>
          <a:p>
            <a:pPr indent="0" marL="0">
              <a:buNone/>
            </a:pPr>
            <a:r>
              <a:rPr lang="en-US" sz="1300" i="1" dirty="0">
                <a:solidFill>
                  <a:srgbClr val="C9D6E8"/>
                </a:solidFill>
              </a:rPr>
              <a:t>A Web-Based, Database-Driven System for Real-Time Vehicle Location, Route Information and Estimated Arrival Times</a:t>
            </a:r>
            <a:endParaRPr lang="en-US" sz="1300" dirty="0"/>
          </a:p>
        </p:txBody>
      </p:sp>
      <p:sp>
        <p:nvSpPr>
          <p:cNvPr id="8" name="Shape 5"/>
          <p:cNvSpPr/>
          <p:nvPr/>
        </p:nvSpPr>
        <p:spPr>
          <a:xfrm>
            <a:off x="457200" y="2926080"/>
            <a:ext cx="1097280" cy="0"/>
          </a:xfrm>
          <a:prstGeom prst="line">
            <a:avLst/>
          </a:prstGeom>
          <a:noFill/>
          <a:ln w="25400">
            <a:solidFill>
              <a:srgbClr val="E8A33D"/>
            </a:solidFill>
            <a:prstDash val="solid"/>
          </a:ln>
        </p:spPr>
      </p:sp>
      <p:sp>
        <p:nvSpPr>
          <p:cNvPr id="9" name="Text 6"/>
          <p:cNvSpPr txBox="1"/>
          <p:nvPr/>
        </p:nvSpPr>
        <p:spPr>
          <a:xfrm>
            <a:off x="457200" y="3063240"/>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PROJECT TEAM</a:t>
            </a:r>
            <a:endParaRPr lang="en-US" sz="900" dirty="0"/>
          </a:p>
        </p:txBody>
      </p:sp>
      <p:sp>
        <p:nvSpPr>
          <p:cNvPr id="10" name="Text 7"/>
          <p:cNvSpPr txBox="1"/>
          <p:nvPr/>
        </p:nvSpPr>
        <p:spPr>
          <a:xfrm>
            <a:off x="457200" y="3337560"/>
            <a:ext cx="2286000" cy="256032"/>
          </a:xfrm>
          <a:prstGeom prst="rect">
            <a:avLst/>
          </a:prstGeom>
          <a:noFill/>
          <a:ln/>
        </p:spPr>
        <p:txBody>
          <a:bodyPr wrap="square" lIns="0" tIns="0" rIns="0" bIns="0" rtlCol="0" anchor="ctr"/>
          <a:lstStyle/>
          <a:p>
            <a:pPr indent="0" marL="0">
              <a:buNone/>
            </a:pPr>
            <a:r>
              <a:rPr lang="en-US" sz="1200" b="1" dirty="0">
                <a:solidFill>
                  <a:srgbClr val="FFFFFF"/>
                </a:solidFill>
              </a:rPr>
              <a:t>T Siddarth</a:t>
            </a:r>
            <a:endParaRPr lang="en-US" sz="1200" dirty="0"/>
          </a:p>
        </p:txBody>
      </p:sp>
      <p:sp>
        <p:nvSpPr>
          <p:cNvPr id="11" name="Text 8"/>
          <p:cNvSpPr txBox="1"/>
          <p:nvPr/>
        </p:nvSpPr>
        <p:spPr>
          <a:xfrm>
            <a:off x="2743200" y="3337560"/>
            <a:ext cx="2011680" cy="256032"/>
          </a:xfrm>
          <a:prstGeom prst="rect">
            <a:avLst/>
          </a:prstGeom>
          <a:noFill/>
          <a:ln/>
        </p:spPr>
        <p:txBody>
          <a:bodyPr wrap="square" lIns="0" tIns="0" rIns="0" bIns="0" rtlCol="0" anchor="ctr"/>
          <a:lstStyle/>
          <a:p>
            <a:pPr indent="0" marL="0">
              <a:buNone/>
            </a:pPr>
            <a:r>
              <a:rPr lang="en-US" sz="1100" dirty="0">
                <a:solidFill>
                  <a:srgbClr val="C9D6E8"/>
                </a:solidFill>
              </a:rPr>
              <a:t>Roll No. 2520090187</a:t>
            </a:r>
            <a:endParaRPr lang="en-US" sz="1100" dirty="0"/>
          </a:p>
        </p:txBody>
      </p:sp>
      <p:sp>
        <p:nvSpPr>
          <p:cNvPr id="12" name="Text 9"/>
          <p:cNvSpPr txBox="1"/>
          <p:nvPr/>
        </p:nvSpPr>
        <p:spPr>
          <a:xfrm>
            <a:off x="457200" y="3630168"/>
            <a:ext cx="2286000" cy="256032"/>
          </a:xfrm>
          <a:prstGeom prst="rect">
            <a:avLst/>
          </a:prstGeom>
          <a:noFill/>
          <a:ln/>
        </p:spPr>
        <p:txBody>
          <a:bodyPr wrap="square" lIns="0" tIns="0" rIns="0" bIns="0" rtlCol="0" anchor="ctr"/>
          <a:lstStyle/>
          <a:p>
            <a:pPr indent="0" marL="0">
              <a:buNone/>
            </a:pPr>
            <a:r>
              <a:rPr lang="en-US" sz="1200" b="1" dirty="0">
                <a:solidFill>
                  <a:srgbClr val="FFFFFF"/>
                </a:solidFill>
              </a:rPr>
              <a:t>R Manikanta</a:t>
            </a:r>
            <a:endParaRPr lang="en-US" sz="1200" dirty="0"/>
          </a:p>
        </p:txBody>
      </p:sp>
      <p:sp>
        <p:nvSpPr>
          <p:cNvPr id="13" name="Text 10"/>
          <p:cNvSpPr txBox="1"/>
          <p:nvPr/>
        </p:nvSpPr>
        <p:spPr>
          <a:xfrm>
            <a:off x="2743200" y="3630168"/>
            <a:ext cx="2011680" cy="256032"/>
          </a:xfrm>
          <a:prstGeom prst="rect">
            <a:avLst/>
          </a:prstGeom>
          <a:noFill/>
          <a:ln/>
        </p:spPr>
        <p:txBody>
          <a:bodyPr wrap="square" lIns="0" tIns="0" rIns="0" bIns="0" rtlCol="0" anchor="ctr"/>
          <a:lstStyle/>
          <a:p>
            <a:pPr indent="0" marL="0">
              <a:buNone/>
            </a:pPr>
            <a:r>
              <a:rPr lang="en-US" sz="1100" dirty="0">
                <a:solidFill>
                  <a:srgbClr val="C9D6E8"/>
                </a:solidFill>
              </a:rPr>
              <a:t>Roll No. 2520090228</a:t>
            </a:r>
            <a:endParaRPr lang="en-US" sz="1100" dirty="0"/>
          </a:p>
        </p:txBody>
      </p:sp>
      <p:sp>
        <p:nvSpPr>
          <p:cNvPr id="14" name="Text 11"/>
          <p:cNvSpPr txBox="1"/>
          <p:nvPr/>
        </p:nvSpPr>
        <p:spPr>
          <a:xfrm>
            <a:off x="457200" y="3922776"/>
            <a:ext cx="2286000" cy="256032"/>
          </a:xfrm>
          <a:prstGeom prst="rect">
            <a:avLst/>
          </a:prstGeom>
          <a:noFill/>
          <a:ln/>
        </p:spPr>
        <p:txBody>
          <a:bodyPr wrap="square" lIns="0" tIns="0" rIns="0" bIns="0" rtlCol="0" anchor="ctr"/>
          <a:lstStyle/>
          <a:p>
            <a:pPr indent="0" marL="0">
              <a:buNone/>
            </a:pPr>
            <a:r>
              <a:rPr lang="en-US" sz="1200" b="1" dirty="0">
                <a:solidFill>
                  <a:srgbClr val="FFFFFF"/>
                </a:solidFill>
              </a:rPr>
              <a:t>P Suvishal</a:t>
            </a:r>
            <a:endParaRPr lang="en-US" sz="1200" dirty="0"/>
          </a:p>
        </p:txBody>
      </p:sp>
      <p:sp>
        <p:nvSpPr>
          <p:cNvPr id="15" name="Text 12"/>
          <p:cNvSpPr txBox="1"/>
          <p:nvPr/>
        </p:nvSpPr>
        <p:spPr>
          <a:xfrm>
            <a:off x="2743200" y="3922776"/>
            <a:ext cx="2011680" cy="256032"/>
          </a:xfrm>
          <a:prstGeom prst="rect">
            <a:avLst/>
          </a:prstGeom>
          <a:noFill/>
          <a:ln/>
        </p:spPr>
        <p:txBody>
          <a:bodyPr wrap="square" lIns="0" tIns="0" rIns="0" bIns="0" rtlCol="0" anchor="ctr"/>
          <a:lstStyle/>
          <a:p>
            <a:pPr indent="0" marL="0">
              <a:buNone/>
            </a:pPr>
            <a:r>
              <a:rPr lang="en-US" sz="1100" dirty="0">
                <a:solidFill>
                  <a:srgbClr val="C9D6E8"/>
                </a:solidFill>
              </a:rPr>
              <a:t>Roll No. 2520090195</a:t>
            </a:r>
            <a:endParaRPr lang="en-US" sz="1100" dirty="0"/>
          </a:p>
        </p:txBody>
      </p:sp>
      <p:sp>
        <p:nvSpPr>
          <p:cNvPr id="16" name="Text 13"/>
          <p:cNvSpPr txBox="1"/>
          <p:nvPr/>
        </p:nvSpPr>
        <p:spPr>
          <a:xfrm>
            <a:off x="5486400" y="3063240"/>
            <a:ext cx="32004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UNDER THE GUIDANCE OF</a:t>
            </a:r>
            <a:endParaRPr lang="en-US" sz="900" dirty="0"/>
          </a:p>
        </p:txBody>
      </p:sp>
      <p:sp>
        <p:nvSpPr>
          <p:cNvPr id="17" name="Text 14"/>
          <p:cNvSpPr txBox="1"/>
          <p:nvPr/>
        </p:nvSpPr>
        <p:spPr>
          <a:xfrm>
            <a:off x="5486400" y="3337560"/>
            <a:ext cx="3200400" cy="274320"/>
          </a:xfrm>
          <a:prstGeom prst="rect">
            <a:avLst/>
          </a:prstGeom>
          <a:noFill/>
          <a:ln/>
        </p:spPr>
        <p:txBody>
          <a:bodyPr wrap="square" lIns="0" tIns="0" rIns="0" bIns="0" rtlCol="0" anchor="ctr"/>
          <a:lstStyle/>
          <a:p>
            <a:pPr indent="0" marL="0">
              <a:buNone/>
            </a:pPr>
            <a:r>
              <a:rPr lang="en-US" sz="1400" b="1" dirty="0">
                <a:solidFill>
                  <a:srgbClr val="FFFFFF"/>
                </a:solidFill>
              </a:rPr>
              <a:t>Dr. M Gayatri</a:t>
            </a:r>
            <a:endParaRPr lang="en-US" sz="1400" dirty="0"/>
          </a:p>
        </p:txBody>
      </p:sp>
      <p:sp>
        <p:nvSpPr>
          <p:cNvPr id="18" name="Text 15"/>
          <p:cNvSpPr txBox="1"/>
          <p:nvPr/>
        </p:nvSpPr>
        <p:spPr>
          <a:xfrm>
            <a:off x="5486400" y="3611880"/>
            <a:ext cx="3200400" cy="256032"/>
          </a:xfrm>
          <a:prstGeom prst="rect">
            <a:avLst/>
          </a:prstGeom>
          <a:noFill/>
          <a:ln/>
        </p:spPr>
        <p:txBody>
          <a:bodyPr wrap="square" lIns="0" tIns="0" rIns="0" bIns="0" rtlCol="0" anchor="ctr"/>
          <a:lstStyle/>
          <a:p>
            <a:pPr indent="0" marL="0">
              <a:buNone/>
            </a:pPr>
            <a:r>
              <a:rPr lang="en-US" sz="1100" dirty="0">
                <a:solidFill>
                  <a:srgbClr val="C9D6E8"/>
                </a:solidFill>
              </a:rPr>
              <a:t>Associate Professor, Dept of CS&amp;IT</a:t>
            </a:r>
            <a:endParaRPr lang="en-US" sz="1100" dirty="0"/>
          </a:p>
        </p:txBody>
      </p:sp>
      <p:sp>
        <p:nvSpPr>
          <p:cNvPr id="19" name="Text 16"/>
          <p:cNvSpPr txBox="1"/>
          <p:nvPr/>
        </p:nvSpPr>
        <p:spPr>
          <a:xfrm>
            <a:off x="457200" y="4617720"/>
            <a:ext cx="5486400" cy="274320"/>
          </a:xfrm>
          <a:prstGeom prst="rect">
            <a:avLst/>
          </a:prstGeom>
          <a:noFill/>
          <a:ln/>
        </p:spPr>
        <p:txBody>
          <a:bodyPr wrap="square" lIns="0" tIns="0" rIns="0" bIns="0" rtlCol="0" anchor="ctr"/>
          <a:lstStyle/>
          <a:p>
            <a:pPr indent="0" marL="0">
              <a:buNone/>
            </a:pPr>
            <a:r>
              <a:rPr lang="en-US" sz="1000" dirty="0">
                <a:solidFill>
                  <a:srgbClr val="9FB2CF"/>
                </a:solidFill>
              </a:rPr>
              <a:t>Course: Application Development-II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02</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Abstract</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a:t>
            </a:r>
            <a:endParaRPr lang="en-US" sz="900" dirty="0"/>
          </a:p>
        </p:txBody>
      </p:sp>
      <p:sp>
        <p:nvSpPr>
          <p:cNvPr id="7" name="Text 4"/>
          <p:cNvSpPr txBox="1"/>
          <p:nvPr/>
        </p:nvSpPr>
        <p:spPr>
          <a:xfrm>
            <a:off x="457200" y="1097280"/>
            <a:ext cx="4754880" cy="3383280"/>
          </a:xfrm>
          <a:prstGeom prst="rect">
            <a:avLst/>
          </a:prstGeom>
          <a:noFill/>
          <a:ln/>
        </p:spPr>
        <p:txBody>
          <a:bodyPr wrap="square" lIns="0" tIns="0" rIns="0" bIns="0" rtlCol="0" anchor="t"/>
          <a:lstStyle/>
          <a:p>
            <a:pPr indent="0" marL="0">
              <a:buNone/>
            </a:pPr>
            <a:r>
              <a:rPr lang="en-US" sz="1100" dirty="0">
                <a:solidFill>
                  <a:srgbClr val="2B3445"/>
                </a:solidFill>
              </a:rPr>
              <a:t>Passengers of public transport often face uncertain arrival times, long waits and no way of knowing where a vehicle is. The Public Transport Live Tracker is a web-based system that shows live vehicle locations, routes, estimated arrival times and stop details.</a:t>
            </a:r>
            <a:endParaRPr lang="en-US" sz="1100" dirty="0"/>
          </a:p>
          <a:p>
            <a:pPr indent="0" marL="0">
              <a:buNone/>
            </a:pPr>
            <a:r>
              <a:rPr lang="en-US" sz="600" dirty="0">
                <a:solidFill>
                  <a:srgbClr val="2B3445"/>
                </a:solidFill>
              </a:rPr>
              <a:t> </a:t>
            </a:r>
            <a:endParaRPr lang="en-US" sz="1100" dirty="0"/>
          </a:p>
          <a:p>
            <a:pPr indent="0" marL="0">
              <a:buNone/>
            </a:pPr>
            <a:r>
              <a:rPr lang="en-US" sz="1100" dirty="0">
                <a:solidFill>
                  <a:srgbClr val="2B3445"/>
                </a:solidFill>
              </a:rPr>
              <a:t>Location updates are processed by a backend service, stored in a database with route, vehicle and user data, and served to the frontend through REST APIs. Users pick a route or vehicle to see its position and expected arrival, while schedules and basic notifications are maintained.</a:t>
            </a:r>
            <a:endParaRPr lang="en-US" sz="1100" dirty="0"/>
          </a:p>
        </p:txBody>
      </p:sp>
      <p:sp>
        <p:nvSpPr>
          <p:cNvPr id="8" name="Shape 5"/>
          <p:cNvSpPr/>
          <p:nvPr/>
        </p:nvSpPr>
        <p:spPr>
          <a:xfrm>
            <a:off x="5486400" y="1097280"/>
            <a:ext cx="3200400" cy="3383280"/>
          </a:xfrm>
          <a:prstGeom prst="roundRect">
            <a:avLst>
              <a:gd name="adj" fmla="val 2286"/>
            </a:avLst>
          </a:prstGeom>
          <a:solidFill>
            <a:srgbClr val="0B5C80"/>
          </a:solidFill>
          <a:ln w="12700">
            <a:solidFill>
              <a:srgbClr val="0B5C80"/>
            </a:solidFill>
            <a:prstDash val="solid"/>
          </a:ln>
        </p:spPr>
      </p:sp>
      <p:sp>
        <p:nvSpPr>
          <p:cNvPr id="9" name="Text 6"/>
          <p:cNvSpPr txBox="1"/>
          <p:nvPr/>
        </p:nvSpPr>
        <p:spPr>
          <a:xfrm>
            <a:off x="5715000" y="1234440"/>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CORE PILLARS</a:t>
            </a:r>
            <a:endParaRPr lang="en-US" sz="900" dirty="0"/>
          </a:p>
        </p:txBody>
      </p:sp>
      <p:sp>
        <p:nvSpPr>
          <p:cNvPr id="10" name="Text 7"/>
          <p:cNvSpPr txBox="1"/>
          <p:nvPr/>
        </p:nvSpPr>
        <p:spPr>
          <a:xfrm>
            <a:off x="5715000" y="1600200"/>
            <a:ext cx="2743200" cy="256032"/>
          </a:xfrm>
          <a:prstGeom prst="rect">
            <a:avLst/>
          </a:prstGeom>
          <a:noFill/>
          <a:ln/>
        </p:spPr>
        <p:txBody>
          <a:bodyPr wrap="square" lIns="0" tIns="0" rIns="0" bIns="0" rtlCol="0" anchor="ctr"/>
          <a:lstStyle/>
          <a:p>
            <a:pPr indent="0" marL="0">
              <a:buNone/>
            </a:pPr>
            <a:r>
              <a:rPr lang="en-US" sz="1200" b="1" dirty="0">
                <a:solidFill>
                  <a:srgbClr val="FFFFFF"/>
                </a:solidFill>
              </a:rPr>
              <a:t>Live Tracking</a:t>
            </a:r>
            <a:endParaRPr lang="en-US" sz="1200" dirty="0"/>
          </a:p>
        </p:txBody>
      </p:sp>
      <p:sp>
        <p:nvSpPr>
          <p:cNvPr id="11" name="Text 8"/>
          <p:cNvSpPr txBox="1"/>
          <p:nvPr/>
        </p:nvSpPr>
        <p:spPr>
          <a:xfrm>
            <a:off x="5715000" y="1865376"/>
            <a:ext cx="2743200" cy="365760"/>
          </a:xfrm>
          <a:prstGeom prst="rect">
            <a:avLst/>
          </a:prstGeom>
          <a:noFill/>
          <a:ln/>
        </p:spPr>
        <p:txBody>
          <a:bodyPr wrap="square" lIns="0" tIns="0" rIns="0" bIns="0" rtlCol="0" anchor="t"/>
          <a:lstStyle/>
          <a:p>
            <a:pPr indent="0" marL="0">
              <a:buNone/>
            </a:pPr>
            <a:r>
              <a:rPr lang="en-US" sz="1000" dirty="0">
                <a:solidFill>
                  <a:srgbClr val="D5E6F0"/>
                </a:solidFill>
              </a:rPr>
              <a:t>Current bus location from GPS updates</a:t>
            </a:r>
            <a:endParaRPr lang="en-US" sz="1000" dirty="0"/>
          </a:p>
        </p:txBody>
      </p:sp>
      <p:sp>
        <p:nvSpPr>
          <p:cNvPr id="12" name="Text 9"/>
          <p:cNvSpPr txBox="1"/>
          <p:nvPr/>
        </p:nvSpPr>
        <p:spPr>
          <a:xfrm>
            <a:off x="5715000" y="2331720"/>
            <a:ext cx="2743200" cy="256032"/>
          </a:xfrm>
          <a:prstGeom prst="rect">
            <a:avLst/>
          </a:prstGeom>
          <a:noFill/>
          <a:ln/>
        </p:spPr>
        <p:txBody>
          <a:bodyPr wrap="square" lIns="0" tIns="0" rIns="0" bIns="0" rtlCol="0" anchor="ctr"/>
          <a:lstStyle/>
          <a:p>
            <a:pPr indent="0" marL="0">
              <a:buNone/>
            </a:pPr>
            <a:r>
              <a:rPr lang="en-US" sz="1200" b="1" dirty="0">
                <a:solidFill>
                  <a:srgbClr val="FFFFFF"/>
                </a:solidFill>
              </a:rPr>
              <a:t>Route &amp; Stop Info</a:t>
            </a:r>
            <a:endParaRPr lang="en-US" sz="1200" dirty="0"/>
          </a:p>
        </p:txBody>
      </p:sp>
      <p:sp>
        <p:nvSpPr>
          <p:cNvPr id="13" name="Text 10"/>
          <p:cNvSpPr txBox="1"/>
          <p:nvPr/>
        </p:nvSpPr>
        <p:spPr>
          <a:xfrm>
            <a:off x="5715000" y="2596896"/>
            <a:ext cx="2743200" cy="365760"/>
          </a:xfrm>
          <a:prstGeom prst="rect">
            <a:avLst/>
          </a:prstGeom>
          <a:noFill/>
          <a:ln/>
        </p:spPr>
        <p:txBody>
          <a:bodyPr wrap="square" lIns="0" tIns="0" rIns="0" bIns="0" rtlCol="0" anchor="t"/>
          <a:lstStyle/>
          <a:p>
            <a:pPr indent="0" marL="0">
              <a:buNone/>
            </a:pPr>
            <a:r>
              <a:rPr lang="en-US" sz="1000" dirty="0">
                <a:solidFill>
                  <a:srgbClr val="D5E6F0"/>
                </a:solidFill>
              </a:rPr>
              <a:t>Routes, stops and schedules</a:t>
            </a:r>
            <a:endParaRPr lang="en-US" sz="1000" dirty="0"/>
          </a:p>
        </p:txBody>
      </p:sp>
      <p:sp>
        <p:nvSpPr>
          <p:cNvPr id="14" name="Text 11"/>
          <p:cNvSpPr txBox="1"/>
          <p:nvPr/>
        </p:nvSpPr>
        <p:spPr>
          <a:xfrm>
            <a:off x="5715000" y="3063240"/>
            <a:ext cx="2743200" cy="256032"/>
          </a:xfrm>
          <a:prstGeom prst="rect">
            <a:avLst/>
          </a:prstGeom>
          <a:noFill/>
          <a:ln/>
        </p:spPr>
        <p:txBody>
          <a:bodyPr wrap="square" lIns="0" tIns="0" rIns="0" bIns="0" rtlCol="0" anchor="ctr"/>
          <a:lstStyle/>
          <a:p>
            <a:pPr indent="0" marL="0">
              <a:buNone/>
            </a:pPr>
            <a:r>
              <a:rPr lang="en-US" sz="1200" b="1" dirty="0">
                <a:solidFill>
                  <a:srgbClr val="FFFFFF"/>
                </a:solidFill>
              </a:rPr>
              <a:t>Arrival Estimates</a:t>
            </a:r>
            <a:endParaRPr lang="en-US" sz="1200" dirty="0"/>
          </a:p>
        </p:txBody>
      </p:sp>
      <p:sp>
        <p:nvSpPr>
          <p:cNvPr id="15" name="Text 12"/>
          <p:cNvSpPr txBox="1"/>
          <p:nvPr/>
        </p:nvSpPr>
        <p:spPr>
          <a:xfrm>
            <a:off x="5715000" y="3328416"/>
            <a:ext cx="2743200" cy="365760"/>
          </a:xfrm>
          <a:prstGeom prst="rect">
            <a:avLst/>
          </a:prstGeom>
          <a:noFill/>
          <a:ln/>
        </p:spPr>
        <p:txBody>
          <a:bodyPr wrap="square" lIns="0" tIns="0" rIns="0" bIns="0" rtlCol="0" anchor="t"/>
          <a:lstStyle/>
          <a:p>
            <a:pPr indent="0" marL="0">
              <a:buNone/>
            </a:pPr>
            <a:r>
              <a:rPr lang="en-US" sz="1000" dirty="0">
                <a:solidFill>
                  <a:srgbClr val="D5E6F0"/>
                </a:solidFill>
              </a:rPr>
              <a:t>Expected arrival at selected stops</a:t>
            </a:r>
            <a:endParaRPr lang="en-US" sz="1000" dirty="0"/>
          </a:p>
        </p:txBody>
      </p:sp>
      <p:sp>
        <p:nvSpPr>
          <p:cNvPr id="16" name="Text 13"/>
          <p:cNvSpPr txBox="1"/>
          <p:nvPr/>
        </p:nvSpPr>
        <p:spPr>
          <a:xfrm>
            <a:off x="5715000" y="3794760"/>
            <a:ext cx="2743200" cy="256032"/>
          </a:xfrm>
          <a:prstGeom prst="rect">
            <a:avLst/>
          </a:prstGeom>
          <a:noFill/>
          <a:ln/>
        </p:spPr>
        <p:txBody>
          <a:bodyPr wrap="square" lIns="0" tIns="0" rIns="0" bIns="0" rtlCol="0" anchor="ctr"/>
          <a:lstStyle/>
          <a:p>
            <a:pPr indent="0" marL="0">
              <a:buNone/>
            </a:pPr>
            <a:r>
              <a:rPr lang="en-US" sz="1200" b="1" dirty="0">
                <a:solidFill>
                  <a:srgbClr val="FFFFFF"/>
                </a:solidFill>
              </a:rPr>
              <a:t>Central Database</a:t>
            </a:r>
            <a:endParaRPr lang="en-US" sz="1200" dirty="0"/>
          </a:p>
        </p:txBody>
      </p:sp>
      <p:sp>
        <p:nvSpPr>
          <p:cNvPr id="17" name="Text 14"/>
          <p:cNvSpPr txBox="1"/>
          <p:nvPr/>
        </p:nvSpPr>
        <p:spPr>
          <a:xfrm>
            <a:off x="5715000" y="4059936"/>
            <a:ext cx="2743200" cy="365760"/>
          </a:xfrm>
          <a:prstGeom prst="rect">
            <a:avLst/>
          </a:prstGeom>
          <a:noFill/>
          <a:ln/>
        </p:spPr>
        <p:txBody>
          <a:bodyPr wrap="square" lIns="0" tIns="0" rIns="0" bIns="0" rtlCol="0" anchor="t"/>
          <a:lstStyle/>
          <a:p>
            <a:pPr indent="0" marL="0">
              <a:buNone/>
            </a:pPr>
            <a:r>
              <a:rPr lang="en-US" sz="1000" dirty="0">
                <a:solidFill>
                  <a:srgbClr val="D5E6F0"/>
                </a:solidFill>
              </a:rPr>
              <a:t>Users, vehicles, routes, locations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03</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Introduction</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2</a:t>
            </a:r>
            <a:endParaRPr lang="en-US" sz="900" dirty="0"/>
          </a:p>
        </p:txBody>
      </p:sp>
      <p:sp>
        <p:nvSpPr>
          <p:cNvPr id="7" name="Shape 4"/>
          <p:cNvSpPr/>
          <p:nvPr/>
        </p:nvSpPr>
        <p:spPr>
          <a:xfrm>
            <a:off x="457200" y="1097280"/>
            <a:ext cx="4046220" cy="1371600"/>
          </a:xfrm>
          <a:prstGeom prst="roundRect">
            <a:avLst>
              <a:gd name="adj" fmla="val 5333"/>
            </a:avLst>
          </a:prstGeom>
          <a:solidFill>
            <a:srgbClr val="FFFFFF"/>
          </a:solidFill>
          <a:ln w="9525">
            <a:solidFill>
              <a:srgbClr val="DDE4EC"/>
            </a:solidFill>
            <a:prstDash val="solid"/>
          </a:ln>
        </p:spPr>
      </p:sp>
      <p:sp>
        <p:nvSpPr>
          <p:cNvPr id="8" name="Shape 5"/>
          <p:cNvSpPr/>
          <p:nvPr/>
        </p:nvSpPr>
        <p:spPr>
          <a:xfrm>
            <a:off x="457200" y="1188720"/>
            <a:ext cx="54864" cy="1188720"/>
          </a:xfrm>
          <a:prstGeom prst="rect">
            <a:avLst/>
          </a:prstGeom>
          <a:solidFill>
            <a:srgbClr val="E8A33D"/>
          </a:solidFill>
          <a:ln w="12700">
            <a:solidFill>
              <a:srgbClr val="E8A33D"/>
            </a:solidFill>
            <a:prstDash val="solid"/>
          </a:ln>
        </p:spPr>
      </p:sp>
      <p:sp>
        <p:nvSpPr>
          <p:cNvPr id="9" name="Text 6"/>
          <p:cNvSpPr txBox="1"/>
          <p:nvPr/>
        </p:nvSpPr>
        <p:spPr>
          <a:xfrm>
            <a:off x="640080" y="118872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Background</a:t>
            </a:r>
            <a:endParaRPr lang="en-US" sz="1200" dirty="0"/>
          </a:p>
        </p:txBody>
      </p:sp>
      <p:sp>
        <p:nvSpPr>
          <p:cNvPr id="10" name="Text 7"/>
          <p:cNvSpPr txBox="1"/>
          <p:nvPr/>
        </p:nvSpPr>
        <p:spPr>
          <a:xfrm>
            <a:off x="640080" y="1481328"/>
            <a:ext cx="3771900" cy="914400"/>
          </a:xfrm>
          <a:prstGeom prst="rect">
            <a:avLst/>
          </a:prstGeom>
          <a:noFill/>
          <a:ln/>
        </p:spPr>
        <p:txBody>
          <a:bodyPr wrap="square" lIns="0" tIns="0" rIns="0" bIns="0" rtlCol="0" anchor="t"/>
          <a:lstStyle/>
          <a:p>
            <a:pPr indent="0" marL="0">
              <a:buNone/>
            </a:pPr>
            <a:r>
              <a:rPr lang="en-US" sz="1000" dirty="0">
                <a:solidFill>
                  <a:srgbClr val="2B3445"/>
                </a:solidFill>
              </a:rPr>
              <a:t>Public transport is part of daily life, but passengers rarely know where a bus is or when it will arrive.</a:t>
            </a:r>
            <a:endParaRPr lang="en-US" sz="1000" dirty="0"/>
          </a:p>
        </p:txBody>
      </p:sp>
      <p:sp>
        <p:nvSpPr>
          <p:cNvPr id="11" name="Shape 8"/>
          <p:cNvSpPr/>
          <p:nvPr/>
        </p:nvSpPr>
        <p:spPr>
          <a:xfrm>
            <a:off x="4640580" y="1097280"/>
            <a:ext cx="4046220" cy="1371600"/>
          </a:xfrm>
          <a:prstGeom prst="roundRect">
            <a:avLst>
              <a:gd name="adj" fmla="val 5333"/>
            </a:avLst>
          </a:prstGeom>
          <a:solidFill>
            <a:srgbClr val="FFFFFF"/>
          </a:solidFill>
          <a:ln w="9525">
            <a:solidFill>
              <a:srgbClr val="DDE4EC"/>
            </a:solidFill>
            <a:prstDash val="solid"/>
          </a:ln>
        </p:spPr>
      </p:sp>
      <p:sp>
        <p:nvSpPr>
          <p:cNvPr id="12" name="Shape 9"/>
          <p:cNvSpPr/>
          <p:nvPr/>
        </p:nvSpPr>
        <p:spPr>
          <a:xfrm>
            <a:off x="4640580" y="1188720"/>
            <a:ext cx="54864" cy="1188720"/>
          </a:xfrm>
          <a:prstGeom prst="rect">
            <a:avLst/>
          </a:prstGeom>
          <a:solidFill>
            <a:srgbClr val="1F7A9C"/>
          </a:solidFill>
          <a:ln w="12700">
            <a:solidFill>
              <a:srgbClr val="1F7A9C"/>
            </a:solidFill>
            <a:prstDash val="solid"/>
          </a:ln>
        </p:spPr>
      </p:sp>
      <p:sp>
        <p:nvSpPr>
          <p:cNvPr id="13" name="Text 10"/>
          <p:cNvSpPr txBox="1"/>
          <p:nvPr/>
        </p:nvSpPr>
        <p:spPr>
          <a:xfrm>
            <a:off x="4823460" y="118872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Limits of schedules</a:t>
            </a:r>
            <a:endParaRPr lang="en-US" sz="1200" dirty="0"/>
          </a:p>
        </p:txBody>
      </p:sp>
      <p:sp>
        <p:nvSpPr>
          <p:cNvPr id="14" name="Text 11"/>
          <p:cNvSpPr txBox="1"/>
          <p:nvPr/>
        </p:nvSpPr>
        <p:spPr>
          <a:xfrm>
            <a:off x="4823460" y="1481328"/>
            <a:ext cx="3771900" cy="914400"/>
          </a:xfrm>
          <a:prstGeom prst="rect">
            <a:avLst/>
          </a:prstGeom>
          <a:noFill/>
          <a:ln/>
        </p:spPr>
        <p:txBody>
          <a:bodyPr wrap="square" lIns="0" tIns="0" rIns="0" bIns="0" rtlCol="0" anchor="t"/>
          <a:lstStyle/>
          <a:p>
            <a:pPr indent="0" marL="0">
              <a:buNone/>
            </a:pPr>
            <a:r>
              <a:rPr lang="en-US" sz="1000" dirty="0">
                <a:solidFill>
                  <a:srgbClr val="2B3445"/>
                </a:solidFill>
              </a:rPr>
              <a:t>Fixed timetables fail when buses are delayed or routes change.</a:t>
            </a:r>
            <a:endParaRPr lang="en-US" sz="1000" dirty="0"/>
          </a:p>
        </p:txBody>
      </p:sp>
      <p:sp>
        <p:nvSpPr>
          <p:cNvPr id="15" name="Shape 12"/>
          <p:cNvSpPr/>
          <p:nvPr/>
        </p:nvSpPr>
        <p:spPr>
          <a:xfrm>
            <a:off x="457200" y="2606040"/>
            <a:ext cx="4046220" cy="1371600"/>
          </a:xfrm>
          <a:prstGeom prst="roundRect">
            <a:avLst>
              <a:gd name="adj" fmla="val 5333"/>
            </a:avLst>
          </a:prstGeom>
          <a:solidFill>
            <a:srgbClr val="FFFFFF"/>
          </a:solidFill>
          <a:ln w="9525">
            <a:solidFill>
              <a:srgbClr val="DDE4EC"/>
            </a:solidFill>
            <a:prstDash val="solid"/>
          </a:ln>
        </p:spPr>
      </p:sp>
      <p:sp>
        <p:nvSpPr>
          <p:cNvPr id="16" name="Shape 13"/>
          <p:cNvSpPr/>
          <p:nvPr/>
        </p:nvSpPr>
        <p:spPr>
          <a:xfrm>
            <a:off x="457200" y="2697480"/>
            <a:ext cx="54864" cy="1188720"/>
          </a:xfrm>
          <a:prstGeom prst="rect">
            <a:avLst/>
          </a:prstGeom>
          <a:solidFill>
            <a:srgbClr val="E8A33D"/>
          </a:solidFill>
          <a:ln w="12700">
            <a:solidFill>
              <a:srgbClr val="E8A33D"/>
            </a:solidFill>
            <a:prstDash val="solid"/>
          </a:ln>
        </p:spPr>
      </p:sp>
      <p:sp>
        <p:nvSpPr>
          <p:cNvPr id="17" name="Text 14"/>
          <p:cNvSpPr txBox="1"/>
          <p:nvPr/>
        </p:nvSpPr>
        <p:spPr>
          <a:xfrm>
            <a:off x="640080" y="269748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The solution</a:t>
            </a:r>
            <a:endParaRPr lang="en-US" sz="1200" dirty="0"/>
          </a:p>
        </p:txBody>
      </p:sp>
      <p:sp>
        <p:nvSpPr>
          <p:cNvPr id="18" name="Text 15"/>
          <p:cNvSpPr txBox="1"/>
          <p:nvPr/>
        </p:nvSpPr>
        <p:spPr>
          <a:xfrm>
            <a:off x="640080" y="2990088"/>
            <a:ext cx="3771900" cy="914400"/>
          </a:xfrm>
          <a:prstGeom prst="rect">
            <a:avLst/>
          </a:prstGeom>
          <a:noFill/>
          <a:ln/>
        </p:spPr>
        <p:txBody>
          <a:bodyPr wrap="square" lIns="0" tIns="0" rIns="0" bIns="0" rtlCol="0" anchor="t"/>
          <a:lstStyle/>
          <a:p>
            <a:pPr indent="0" marL="0">
              <a:buNone/>
            </a:pPr>
            <a:r>
              <a:rPr lang="en-US" sz="1000" dirty="0">
                <a:solidFill>
                  <a:srgbClr val="2B3445"/>
                </a:solidFill>
              </a:rPr>
              <a:t>A web system that shows live bus location, routes, stops and estimated arrival times.</a:t>
            </a:r>
            <a:endParaRPr lang="en-US" sz="1000" dirty="0"/>
          </a:p>
        </p:txBody>
      </p:sp>
      <p:sp>
        <p:nvSpPr>
          <p:cNvPr id="19" name="Shape 16"/>
          <p:cNvSpPr/>
          <p:nvPr/>
        </p:nvSpPr>
        <p:spPr>
          <a:xfrm>
            <a:off x="4640580" y="2606040"/>
            <a:ext cx="4046220" cy="1371600"/>
          </a:xfrm>
          <a:prstGeom prst="roundRect">
            <a:avLst>
              <a:gd name="adj" fmla="val 5333"/>
            </a:avLst>
          </a:prstGeom>
          <a:solidFill>
            <a:srgbClr val="FFFFFF"/>
          </a:solidFill>
          <a:ln w="9525">
            <a:solidFill>
              <a:srgbClr val="DDE4EC"/>
            </a:solidFill>
            <a:prstDash val="solid"/>
          </a:ln>
        </p:spPr>
      </p:sp>
      <p:sp>
        <p:nvSpPr>
          <p:cNvPr id="20" name="Shape 17"/>
          <p:cNvSpPr/>
          <p:nvPr/>
        </p:nvSpPr>
        <p:spPr>
          <a:xfrm>
            <a:off x="4640580" y="2697480"/>
            <a:ext cx="54864" cy="1188720"/>
          </a:xfrm>
          <a:prstGeom prst="rect">
            <a:avLst/>
          </a:prstGeom>
          <a:solidFill>
            <a:srgbClr val="1F7A9C"/>
          </a:solidFill>
          <a:ln w="12700">
            <a:solidFill>
              <a:srgbClr val="1F7A9C"/>
            </a:solidFill>
            <a:prstDash val="solid"/>
          </a:ln>
        </p:spPr>
      </p:sp>
      <p:sp>
        <p:nvSpPr>
          <p:cNvPr id="21" name="Text 18"/>
          <p:cNvSpPr txBox="1"/>
          <p:nvPr/>
        </p:nvSpPr>
        <p:spPr>
          <a:xfrm>
            <a:off x="4823460" y="269748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How it works</a:t>
            </a:r>
            <a:endParaRPr lang="en-US" sz="1200" dirty="0"/>
          </a:p>
        </p:txBody>
      </p:sp>
      <p:sp>
        <p:nvSpPr>
          <p:cNvPr id="22" name="Text 19"/>
          <p:cNvSpPr txBox="1"/>
          <p:nvPr/>
        </p:nvSpPr>
        <p:spPr>
          <a:xfrm>
            <a:off x="4823460" y="2990088"/>
            <a:ext cx="3771900" cy="914400"/>
          </a:xfrm>
          <a:prstGeom prst="rect">
            <a:avLst/>
          </a:prstGeom>
          <a:noFill/>
          <a:ln/>
        </p:spPr>
        <p:txBody>
          <a:bodyPr wrap="square" lIns="0" tIns="0" rIns="0" bIns="0" rtlCol="0" anchor="t"/>
          <a:lstStyle/>
          <a:p>
            <a:pPr indent="0" marL="0">
              <a:buNone/>
            </a:pPr>
            <a:r>
              <a:rPr lang="en-US" sz="1000" dirty="0">
                <a:solidFill>
                  <a:srgbClr val="2B3445"/>
                </a:solidFill>
              </a:rPr>
              <a:t>Vehicles send location updates to a backend; APIs deliver data from the database to the frontend.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04</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Problem Statement &amp; Motivation</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3</a:t>
            </a:r>
            <a:endParaRPr lang="en-US" sz="900" dirty="0"/>
          </a:p>
        </p:txBody>
      </p:sp>
      <p:sp>
        <p:nvSpPr>
          <p:cNvPr id="7" name="Shape 4"/>
          <p:cNvSpPr/>
          <p:nvPr/>
        </p:nvSpPr>
        <p:spPr>
          <a:xfrm>
            <a:off x="457200" y="1097280"/>
            <a:ext cx="4046220" cy="1371600"/>
          </a:xfrm>
          <a:prstGeom prst="roundRect">
            <a:avLst>
              <a:gd name="adj" fmla="val 5333"/>
            </a:avLst>
          </a:prstGeom>
          <a:solidFill>
            <a:srgbClr val="FFFFFF"/>
          </a:solidFill>
          <a:ln w="9525">
            <a:solidFill>
              <a:srgbClr val="DDE4EC"/>
            </a:solidFill>
            <a:prstDash val="solid"/>
          </a:ln>
        </p:spPr>
      </p:sp>
      <p:sp>
        <p:nvSpPr>
          <p:cNvPr id="8" name="Shape 5"/>
          <p:cNvSpPr/>
          <p:nvPr/>
        </p:nvSpPr>
        <p:spPr>
          <a:xfrm>
            <a:off x="457200" y="1188720"/>
            <a:ext cx="54864" cy="1188720"/>
          </a:xfrm>
          <a:prstGeom prst="rect">
            <a:avLst/>
          </a:prstGeom>
          <a:solidFill>
            <a:srgbClr val="C0392B"/>
          </a:solidFill>
          <a:ln w="12700">
            <a:solidFill>
              <a:srgbClr val="C0392B"/>
            </a:solidFill>
            <a:prstDash val="solid"/>
          </a:ln>
        </p:spPr>
      </p:sp>
      <p:sp>
        <p:nvSpPr>
          <p:cNvPr id="9" name="Text 6"/>
          <p:cNvSpPr txBox="1"/>
          <p:nvPr/>
        </p:nvSpPr>
        <p:spPr>
          <a:xfrm>
            <a:off x="640080" y="118872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No live location</a:t>
            </a:r>
            <a:endParaRPr lang="en-US" sz="1200" dirty="0"/>
          </a:p>
        </p:txBody>
      </p:sp>
      <p:sp>
        <p:nvSpPr>
          <p:cNvPr id="10" name="Text 7"/>
          <p:cNvSpPr txBox="1"/>
          <p:nvPr/>
        </p:nvSpPr>
        <p:spPr>
          <a:xfrm>
            <a:off x="640080" y="1481328"/>
            <a:ext cx="3771900" cy="914400"/>
          </a:xfrm>
          <a:prstGeom prst="rect">
            <a:avLst/>
          </a:prstGeom>
          <a:noFill/>
          <a:ln/>
        </p:spPr>
        <p:txBody>
          <a:bodyPr wrap="square" lIns="0" tIns="0" rIns="0" bIns="0" rtlCol="0" anchor="t"/>
          <a:lstStyle/>
          <a:p>
            <a:pPr indent="0" marL="0">
              <a:buNone/>
            </a:pPr>
            <a:r>
              <a:rPr lang="en-US" sz="1000" dirty="0">
                <a:solidFill>
                  <a:srgbClr val="2B3445"/>
                </a:solidFill>
              </a:rPr>
              <a:t>Passengers cannot see where a vehicle currently is.</a:t>
            </a:r>
            <a:endParaRPr lang="en-US" sz="1000" dirty="0"/>
          </a:p>
        </p:txBody>
      </p:sp>
      <p:sp>
        <p:nvSpPr>
          <p:cNvPr id="11" name="Shape 8"/>
          <p:cNvSpPr/>
          <p:nvPr/>
        </p:nvSpPr>
        <p:spPr>
          <a:xfrm>
            <a:off x="4640580" y="1097280"/>
            <a:ext cx="4046220" cy="1371600"/>
          </a:xfrm>
          <a:prstGeom prst="roundRect">
            <a:avLst>
              <a:gd name="adj" fmla="val 5333"/>
            </a:avLst>
          </a:prstGeom>
          <a:solidFill>
            <a:srgbClr val="FFFFFF"/>
          </a:solidFill>
          <a:ln w="9525">
            <a:solidFill>
              <a:srgbClr val="DDE4EC"/>
            </a:solidFill>
            <a:prstDash val="solid"/>
          </a:ln>
        </p:spPr>
      </p:sp>
      <p:sp>
        <p:nvSpPr>
          <p:cNvPr id="12" name="Shape 9"/>
          <p:cNvSpPr/>
          <p:nvPr/>
        </p:nvSpPr>
        <p:spPr>
          <a:xfrm>
            <a:off x="4640580" y="1188720"/>
            <a:ext cx="54864" cy="1188720"/>
          </a:xfrm>
          <a:prstGeom prst="rect">
            <a:avLst/>
          </a:prstGeom>
          <a:solidFill>
            <a:srgbClr val="C0392B"/>
          </a:solidFill>
          <a:ln w="12700">
            <a:solidFill>
              <a:srgbClr val="C0392B"/>
            </a:solidFill>
            <a:prstDash val="solid"/>
          </a:ln>
        </p:spPr>
      </p:sp>
      <p:sp>
        <p:nvSpPr>
          <p:cNvPr id="13" name="Text 10"/>
          <p:cNvSpPr txBox="1"/>
          <p:nvPr/>
        </p:nvSpPr>
        <p:spPr>
          <a:xfrm>
            <a:off x="4823460" y="118872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Uncertain waiting time</a:t>
            </a:r>
            <a:endParaRPr lang="en-US" sz="1200" dirty="0"/>
          </a:p>
        </p:txBody>
      </p:sp>
      <p:sp>
        <p:nvSpPr>
          <p:cNvPr id="14" name="Text 11"/>
          <p:cNvSpPr txBox="1"/>
          <p:nvPr/>
        </p:nvSpPr>
        <p:spPr>
          <a:xfrm>
            <a:off x="4823460" y="1481328"/>
            <a:ext cx="3771900" cy="914400"/>
          </a:xfrm>
          <a:prstGeom prst="rect">
            <a:avLst/>
          </a:prstGeom>
          <a:noFill/>
          <a:ln/>
        </p:spPr>
        <p:txBody>
          <a:bodyPr wrap="square" lIns="0" tIns="0" rIns="0" bIns="0" rtlCol="0" anchor="t"/>
          <a:lstStyle/>
          <a:p>
            <a:pPr indent="0" marL="0">
              <a:buNone/>
            </a:pPr>
            <a:r>
              <a:rPr lang="en-US" sz="1000" dirty="0">
                <a:solidFill>
                  <a:srgbClr val="2B3445"/>
                </a:solidFill>
              </a:rPr>
              <a:t>Delays and route changes leave passengers waiting without information.</a:t>
            </a:r>
            <a:endParaRPr lang="en-US" sz="1000" dirty="0"/>
          </a:p>
        </p:txBody>
      </p:sp>
      <p:sp>
        <p:nvSpPr>
          <p:cNvPr id="15" name="Shape 12"/>
          <p:cNvSpPr/>
          <p:nvPr/>
        </p:nvSpPr>
        <p:spPr>
          <a:xfrm>
            <a:off x="457200" y="2606040"/>
            <a:ext cx="4046220" cy="1371600"/>
          </a:xfrm>
          <a:prstGeom prst="roundRect">
            <a:avLst>
              <a:gd name="adj" fmla="val 5333"/>
            </a:avLst>
          </a:prstGeom>
          <a:solidFill>
            <a:srgbClr val="FFFFFF"/>
          </a:solidFill>
          <a:ln w="9525">
            <a:solidFill>
              <a:srgbClr val="DDE4EC"/>
            </a:solidFill>
            <a:prstDash val="solid"/>
          </a:ln>
        </p:spPr>
      </p:sp>
      <p:sp>
        <p:nvSpPr>
          <p:cNvPr id="16" name="Shape 13"/>
          <p:cNvSpPr/>
          <p:nvPr/>
        </p:nvSpPr>
        <p:spPr>
          <a:xfrm>
            <a:off x="457200" y="2697480"/>
            <a:ext cx="54864" cy="1188720"/>
          </a:xfrm>
          <a:prstGeom prst="rect">
            <a:avLst/>
          </a:prstGeom>
          <a:solidFill>
            <a:srgbClr val="C0392B"/>
          </a:solidFill>
          <a:ln w="12700">
            <a:solidFill>
              <a:srgbClr val="C0392B"/>
            </a:solidFill>
            <a:prstDash val="solid"/>
          </a:ln>
        </p:spPr>
      </p:sp>
      <p:sp>
        <p:nvSpPr>
          <p:cNvPr id="17" name="Text 14"/>
          <p:cNvSpPr txBox="1"/>
          <p:nvPr/>
        </p:nvSpPr>
        <p:spPr>
          <a:xfrm>
            <a:off x="640080" y="269748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Scattered management</a:t>
            </a:r>
            <a:endParaRPr lang="en-US" sz="1200" dirty="0"/>
          </a:p>
        </p:txBody>
      </p:sp>
      <p:sp>
        <p:nvSpPr>
          <p:cNvPr id="18" name="Text 15"/>
          <p:cNvSpPr txBox="1"/>
          <p:nvPr/>
        </p:nvSpPr>
        <p:spPr>
          <a:xfrm>
            <a:off x="640080" y="2990088"/>
            <a:ext cx="3771900" cy="914400"/>
          </a:xfrm>
          <a:prstGeom prst="rect">
            <a:avLst/>
          </a:prstGeom>
          <a:noFill/>
          <a:ln/>
        </p:spPr>
        <p:txBody>
          <a:bodyPr wrap="square" lIns="0" tIns="0" rIns="0" bIns="0" rtlCol="0" anchor="t"/>
          <a:lstStyle/>
          <a:p>
            <a:pPr indent="0" marL="0">
              <a:buNone/>
            </a:pPr>
            <a:r>
              <a:rPr lang="en-US" sz="1000" dirty="0">
                <a:solidFill>
                  <a:srgbClr val="2B3445"/>
                </a:solidFill>
              </a:rPr>
              <a:t>Operators use separate systems for vehicles and routes, causing poor coordination.</a:t>
            </a:r>
            <a:endParaRPr lang="en-US" sz="1000" dirty="0"/>
          </a:p>
        </p:txBody>
      </p:sp>
      <p:sp>
        <p:nvSpPr>
          <p:cNvPr id="19" name="Shape 16"/>
          <p:cNvSpPr/>
          <p:nvPr/>
        </p:nvSpPr>
        <p:spPr>
          <a:xfrm>
            <a:off x="4640580" y="2606040"/>
            <a:ext cx="4046220" cy="1371600"/>
          </a:xfrm>
          <a:prstGeom prst="roundRect">
            <a:avLst>
              <a:gd name="adj" fmla="val 5333"/>
            </a:avLst>
          </a:prstGeom>
          <a:solidFill>
            <a:srgbClr val="FFFFFF"/>
          </a:solidFill>
          <a:ln w="9525">
            <a:solidFill>
              <a:srgbClr val="DDE4EC"/>
            </a:solidFill>
            <a:prstDash val="solid"/>
          </a:ln>
        </p:spPr>
      </p:sp>
      <p:sp>
        <p:nvSpPr>
          <p:cNvPr id="20" name="Shape 17"/>
          <p:cNvSpPr/>
          <p:nvPr/>
        </p:nvSpPr>
        <p:spPr>
          <a:xfrm>
            <a:off x="4640580" y="2697480"/>
            <a:ext cx="54864" cy="1188720"/>
          </a:xfrm>
          <a:prstGeom prst="rect">
            <a:avLst/>
          </a:prstGeom>
          <a:solidFill>
            <a:srgbClr val="C0392B"/>
          </a:solidFill>
          <a:ln w="12700">
            <a:solidFill>
              <a:srgbClr val="C0392B"/>
            </a:solidFill>
            <a:prstDash val="solid"/>
          </a:ln>
        </p:spPr>
      </p:sp>
      <p:sp>
        <p:nvSpPr>
          <p:cNvPr id="21" name="Text 18"/>
          <p:cNvSpPr txBox="1"/>
          <p:nvPr/>
        </p:nvSpPr>
        <p:spPr>
          <a:xfrm>
            <a:off x="4823460" y="269748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Why this project</a:t>
            </a:r>
            <a:endParaRPr lang="en-US" sz="1200" dirty="0"/>
          </a:p>
        </p:txBody>
      </p:sp>
      <p:sp>
        <p:nvSpPr>
          <p:cNvPr id="22" name="Text 19"/>
          <p:cNvSpPr txBox="1"/>
          <p:nvPr/>
        </p:nvSpPr>
        <p:spPr>
          <a:xfrm>
            <a:off x="4823460" y="2990088"/>
            <a:ext cx="3771900" cy="914400"/>
          </a:xfrm>
          <a:prstGeom prst="rect">
            <a:avLst/>
          </a:prstGeom>
          <a:noFill/>
          <a:ln/>
        </p:spPr>
        <p:txBody>
          <a:bodyPr wrap="square" lIns="0" tIns="0" rIns="0" bIns="0" rtlCol="0" anchor="t"/>
          <a:lstStyle/>
          <a:p>
            <a:pPr indent="0" marL="0">
              <a:buNone/>
            </a:pPr>
            <a:r>
              <a:rPr lang="en-US" sz="1000" dirty="0">
                <a:solidFill>
                  <a:srgbClr val="2B3445"/>
                </a:solidFill>
              </a:rPr>
              <a:t>Passengers expect real-time info, and operators need organized data to manage fleets.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05</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Objectives</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4</a:t>
            </a:r>
            <a:endParaRPr lang="en-US" sz="900" dirty="0"/>
          </a:p>
        </p:txBody>
      </p:sp>
      <p:sp>
        <p:nvSpPr>
          <p:cNvPr id="7" name="Shape 4"/>
          <p:cNvSpPr/>
          <p:nvPr/>
        </p:nvSpPr>
        <p:spPr>
          <a:xfrm>
            <a:off x="457200" y="1097280"/>
            <a:ext cx="8229600" cy="518160"/>
          </a:xfrm>
          <a:prstGeom prst="roundRect">
            <a:avLst>
              <a:gd name="adj" fmla="val 10588"/>
            </a:avLst>
          </a:prstGeom>
          <a:solidFill>
            <a:srgbClr val="FFFFFF"/>
          </a:solidFill>
          <a:ln w="9525">
            <a:solidFill>
              <a:srgbClr val="DDE4EC"/>
            </a:solidFill>
            <a:prstDash val="solid"/>
          </a:ln>
        </p:spPr>
      </p:sp>
      <p:sp>
        <p:nvSpPr>
          <p:cNvPr id="8" name="Shape 5"/>
          <p:cNvSpPr/>
          <p:nvPr/>
        </p:nvSpPr>
        <p:spPr>
          <a:xfrm>
            <a:off x="594360" y="1200912"/>
            <a:ext cx="310896" cy="310896"/>
          </a:xfrm>
          <a:prstGeom prst="ellipse">
            <a:avLst/>
          </a:prstGeom>
          <a:solidFill>
            <a:srgbClr val="0B5C80"/>
          </a:solidFill>
          <a:ln w="12700">
            <a:solidFill>
              <a:srgbClr val="0B5C80"/>
            </a:solidFill>
            <a:prstDash val="solid"/>
          </a:ln>
        </p:spPr>
      </p:sp>
      <p:sp>
        <p:nvSpPr>
          <p:cNvPr id="9" name="Text 6"/>
          <p:cNvSpPr txBox="1"/>
          <p:nvPr/>
        </p:nvSpPr>
        <p:spPr>
          <a:xfrm>
            <a:off x="594360" y="1200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Text 7"/>
          <p:cNvSpPr txBox="1"/>
          <p:nvPr/>
        </p:nvSpPr>
        <p:spPr>
          <a:xfrm>
            <a:off x="1051560" y="1097280"/>
            <a:ext cx="7498080" cy="518160"/>
          </a:xfrm>
          <a:prstGeom prst="rect">
            <a:avLst/>
          </a:prstGeom>
          <a:noFill/>
          <a:ln/>
        </p:spPr>
        <p:txBody>
          <a:bodyPr wrap="square" lIns="0" tIns="0" rIns="0" bIns="0" rtlCol="0" anchor="ctr"/>
          <a:lstStyle/>
          <a:p>
            <a:pPr indent="0" marL="0">
              <a:buNone/>
            </a:pPr>
            <a:r>
              <a:rPr lang="en-US" sz="1050" dirty="0">
                <a:solidFill>
                  <a:srgbClr val="2B3445"/>
                </a:solidFill>
              </a:rPr>
              <a:t>Build a web-based system to track public transport vehicles in real time</a:t>
            </a:r>
            <a:endParaRPr lang="en-US" sz="1050" dirty="0"/>
          </a:p>
        </p:txBody>
      </p:sp>
      <p:sp>
        <p:nvSpPr>
          <p:cNvPr id="11" name="Shape 8"/>
          <p:cNvSpPr/>
          <p:nvPr/>
        </p:nvSpPr>
        <p:spPr>
          <a:xfrm>
            <a:off x="457200" y="1706880"/>
            <a:ext cx="8229600" cy="518160"/>
          </a:xfrm>
          <a:prstGeom prst="roundRect">
            <a:avLst>
              <a:gd name="adj" fmla="val 10588"/>
            </a:avLst>
          </a:prstGeom>
          <a:solidFill>
            <a:srgbClr val="FFFFFF"/>
          </a:solidFill>
          <a:ln w="9525">
            <a:solidFill>
              <a:srgbClr val="DDE4EC"/>
            </a:solidFill>
            <a:prstDash val="solid"/>
          </a:ln>
        </p:spPr>
      </p:sp>
      <p:sp>
        <p:nvSpPr>
          <p:cNvPr id="12" name="Shape 9"/>
          <p:cNvSpPr/>
          <p:nvPr/>
        </p:nvSpPr>
        <p:spPr>
          <a:xfrm>
            <a:off x="594360" y="1810512"/>
            <a:ext cx="310896" cy="310896"/>
          </a:xfrm>
          <a:prstGeom prst="ellipse">
            <a:avLst/>
          </a:prstGeom>
          <a:solidFill>
            <a:srgbClr val="0B5C80"/>
          </a:solidFill>
          <a:ln w="12700">
            <a:solidFill>
              <a:srgbClr val="0B5C80"/>
            </a:solidFill>
            <a:prstDash val="solid"/>
          </a:ln>
        </p:spPr>
      </p:sp>
      <p:sp>
        <p:nvSpPr>
          <p:cNvPr id="13" name="Text 10"/>
          <p:cNvSpPr txBox="1"/>
          <p:nvPr/>
        </p:nvSpPr>
        <p:spPr>
          <a:xfrm>
            <a:off x="594360"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1"/>
          <p:cNvSpPr txBox="1"/>
          <p:nvPr/>
        </p:nvSpPr>
        <p:spPr>
          <a:xfrm>
            <a:off x="1051560" y="1706880"/>
            <a:ext cx="7498080" cy="518160"/>
          </a:xfrm>
          <a:prstGeom prst="rect">
            <a:avLst/>
          </a:prstGeom>
          <a:noFill/>
          <a:ln/>
        </p:spPr>
        <p:txBody>
          <a:bodyPr wrap="square" lIns="0" tIns="0" rIns="0" bIns="0" rtlCol="0" anchor="ctr"/>
          <a:lstStyle/>
          <a:p>
            <a:pPr indent="0" marL="0">
              <a:buNone/>
            </a:pPr>
            <a:r>
              <a:rPr lang="en-US" sz="1050" dirty="0">
                <a:solidFill>
                  <a:srgbClr val="2B3445"/>
                </a:solidFill>
              </a:rPr>
              <a:t>Show routes, stops and schedules in an easy-to-use interface</a:t>
            </a:r>
            <a:endParaRPr lang="en-US" sz="1050" dirty="0"/>
          </a:p>
        </p:txBody>
      </p:sp>
      <p:sp>
        <p:nvSpPr>
          <p:cNvPr id="15" name="Shape 12"/>
          <p:cNvSpPr/>
          <p:nvPr/>
        </p:nvSpPr>
        <p:spPr>
          <a:xfrm>
            <a:off x="457200" y="2316480"/>
            <a:ext cx="8229600" cy="518160"/>
          </a:xfrm>
          <a:prstGeom prst="roundRect">
            <a:avLst>
              <a:gd name="adj" fmla="val 10588"/>
            </a:avLst>
          </a:prstGeom>
          <a:solidFill>
            <a:srgbClr val="FFFFFF"/>
          </a:solidFill>
          <a:ln w="9525">
            <a:solidFill>
              <a:srgbClr val="DDE4EC"/>
            </a:solidFill>
            <a:prstDash val="solid"/>
          </a:ln>
        </p:spPr>
      </p:sp>
      <p:sp>
        <p:nvSpPr>
          <p:cNvPr id="16" name="Shape 13"/>
          <p:cNvSpPr/>
          <p:nvPr/>
        </p:nvSpPr>
        <p:spPr>
          <a:xfrm>
            <a:off x="594360" y="2420112"/>
            <a:ext cx="310896" cy="310896"/>
          </a:xfrm>
          <a:prstGeom prst="ellipse">
            <a:avLst/>
          </a:prstGeom>
          <a:solidFill>
            <a:srgbClr val="0B5C80"/>
          </a:solidFill>
          <a:ln w="12700">
            <a:solidFill>
              <a:srgbClr val="0B5C80"/>
            </a:solidFill>
            <a:prstDash val="solid"/>
          </a:ln>
        </p:spPr>
      </p:sp>
      <p:sp>
        <p:nvSpPr>
          <p:cNvPr id="17" name="Text 14"/>
          <p:cNvSpPr txBox="1"/>
          <p:nvPr/>
        </p:nvSpPr>
        <p:spPr>
          <a:xfrm>
            <a:off x="594360" y="24201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5"/>
          <p:cNvSpPr txBox="1"/>
          <p:nvPr/>
        </p:nvSpPr>
        <p:spPr>
          <a:xfrm>
            <a:off x="1051560" y="2316480"/>
            <a:ext cx="7498080" cy="518160"/>
          </a:xfrm>
          <a:prstGeom prst="rect">
            <a:avLst/>
          </a:prstGeom>
          <a:noFill/>
          <a:ln/>
        </p:spPr>
        <p:txBody>
          <a:bodyPr wrap="square" lIns="0" tIns="0" rIns="0" bIns="0" rtlCol="0" anchor="ctr"/>
          <a:lstStyle/>
          <a:p>
            <a:pPr indent="0" marL="0">
              <a:buNone/>
            </a:pPr>
            <a:r>
              <a:rPr lang="en-US" sz="1050" dirty="0">
                <a:solidFill>
                  <a:srgbClr val="2B3445"/>
                </a:solidFill>
              </a:rPr>
              <a:t>Provide estimated arrival times at selected stops</a:t>
            </a:r>
            <a:endParaRPr lang="en-US" sz="1050" dirty="0"/>
          </a:p>
        </p:txBody>
      </p:sp>
      <p:sp>
        <p:nvSpPr>
          <p:cNvPr id="19" name="Shape 16"/>
          <p:cNvSpPr/>
          <p:nvPr/>
        </p:nvSpPr>
        <p:spPr>
          <a:xfrm>
            <a:off x="457200" y="2926080"/>
            <a:ext cx="8229600" cy="518160"/>
          </a:xfrm>
          <a:prstGeom prst="roundRect">
            <a:avLst>
              <a:gd name="adj" fmla="val 10588"/>
            </a:avLst>
          </a:prstGeom>
          <a:solidFill>
            <a:srgbClr val="FFFFFF"/>
          </a:solidFill>
          <a:ln w="9525">
            <a:solidFill>
              <a:srgbClr val="DDE4EC"/>
            </a:solidFill>
            <a:prstDash val="solid"/>
          </a:ln>
        </p:spPr>
      </p:sp>
      <p:sp>
        <p:nvSpPr>
          <p:cNvPr id="20" name="Shape 17"/>
          <p:cNvSpPr/>
          <p:nvPr/>
        </p:nvSpPr>
        <p:spPr>
          <a:xfrm>
            <a:off x="594360" y="3029712"/>
            <a:ext cx="310896" cy="310896"/>
          </a:xfrm>
          <a:prstGeom prst="ellipse">
            <a:avLst/>
          </a:prstGeom>
          <a:solidFill>
            <a:srgbClr val="0B5C80"/>
          </a:solidFill>
          <a:ln w="12700">
            <a:solidFill>
              <a:srgbClr val="0B5C80"/>
            </a:solidFill>
            <a:prstDash val="solid"/>
          </a:ln>
        </p:spPr>
      </p:sp>
      <p:sp>
        <p:nvSpPr>
          <p:cNvPr id="21" name="Text 18"/>
          <p:cNvSpPr txBox="1"/>
          <p:nvPr/>
        </p:nvSpPr>
        <p:spPr>
          <a:xfrm>
            <a:off x="594360" y="30297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2" name="Text 19"/>
          <p:cNvSpPr txBox="1"/>
          <p:nvPr/>
        </p:nvSpPr>
        <p:spPr>
          <a:xfrm>
            <a:off x="1051560" y="2926080"/>
            <a:ext cx="7498080" cy="518160"/>
          </a:xfrm>
          <a:prstGeom prst="rect">
            <a:avLst/>
          </a:prstGeom>
          <a:noFill/>
          <a:ln/>
        </p:spPr>
        <p:txBody>
          <a:bodyPr wrap="square" lIns="0" tIns="0" rIns="0" bIns="0" rtlCol="0" anchor="ctr"/>
          <a:lstStyle/>
          <a:p>
            <a:pPr indent="0" marL="0">
              <a:buNone/>
            </a:pPr>
            <a:r>
              <a:rPr lang="en-US" sz="1050" dirty="0">
                <a:solidFill>
                  <a:srgbClr val="2B3445"/>
                </a:solidFill>
              </a:rPr>
              <a:t>Store users, vehicles, routes, stops, schedules and locations in a database</a:t>
            </a:r>
            <a:endParaRPr lang="en-US" sz="1050" dirty="0"/>
          </a:p>
        </p:txBody>
      </p:sp>
      <p:sp>
        <p:nvSpPr>
          <p:cNvPr id="23" name="Shape 20"/>
          <p:cNvSpPr/>
          <p:nvPr/>
        </p:nvSpPr>
        <p:spPr>
          <a:xfrm>
            <a:off x="457200" y="3535680"/>
            <a:ext cx="8229600" cy="518160"/>
          </a:xfrm>
          <a:prstGeom prst="roundRect">
            <a:avLst>
              <a:gd name="adj" fmla="val 10588"/>
            </a:avLst>
          </a:prstGeom>
          <a:solidFill>
            <a:srgbClr val="FFFFFF"/>
          </a:solidFill>
          <a:ln w="9525">
            <a:solidFill>
              <a:srgbClr val="DDE4EC"/>
            </a:solidFill>
            <a:prstDash val="solid"/>
          </a:ln>
        </p:spPr>
      </p:sp>
      <p:sp>
        <p:nvSpPr>
          <p:cNvPr id="24" name="Shape 21"/>
          <p:cNvSpPr/>
          <p:nvPr/>
        </p:nvSpPr>
        <p:spPr>
          <a:xfrm>
            <a:off x="594360" y="3639312"/>
            <a:ext cx="310896" cy="310896"/>
          </a:xfrm>
          <a:prstGeom prst="ellipse">
            <a:avLst/>
          </a:prstGeom>
          <a:solidFill>
            <a:srgbClr val="0B5C80"/>
          </a:solidFill>
          <a:ln w="12700">
            <a:solidFill>
              <a:srgbClr val="0B5C80"/>
            </a:solidFill>
            <a:prstDash val="solid"/>
          </a:ln>
        </p:spPr>
      </p:sp>
      <p:sp>
        <p:nvSpPr>
          <p:cNvPr id="25" name="Text 22"/>
          <p:cNvSpPr txBox="1"/>
          <p:nvPr/>
        </p:nvSpPr>
        <p:spPr>
          <a:xfrm>
            <a:off x="594360" y="3639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6" name="Text 23"/>
          <p:cNvSpPr txBox="1"/>
          <p:nvPr/>
        </p:nvSpPr>
        <p:spPr>
          <a:xfrm>
            <a:off x="1051560" y="3535680"/>
            <a:ext cx="7498080" cy="518160"/>
          </a:xfrm>
          <a:prstGeom prst="rect">
            <a:avLst/>
          </a:prstGeom>
          <a:noFill/>
          <a:ln/>
        </p:spPr>
        <p:txBody>
          <a:bodyPr wrap="square" lIns="0" tIns="0" rIns="0" bIns="0" rtlCol="0" anchor="ctr"/>
          <a:lstStyle/>
          <a:p>
            <a:pPr indent="0" marL="0">
              <a:buNone/>
            </a:pPr>
            <a:r>
              <a:rPr lang="en-US" sz="1050" dirty="0">
                <a:solidFill>
                  <a:srgbClr val="2B3445"/>
                </a:solidFill>
              </a:rPr>
              <a:t>Connect backend and frontend through REST APIs</a:t>
            </a:r>
            <a:endParaRPr lang="en-US" sz="1050" dirty="0"/>
          </a:p>
        </p:txBody>
      </p:sp>
      <p:sp>
        <p:nvSpPr>
          <p:cNvPr id="27" name="Shape 24"/>
          <p:cNvSpPr/>
          <p:nvPr/>
        </p:nvSpPr>
        <p:spPr>
          <a:xfrm>
            <a:off x="457200" y="4145280"/>
            <a:ext cx="8229600" cy="518160"/>
          </a:xfrm>
          <a:prstGeom prst="roundRect">
            <a:avLst>
              <a:gd name="adj" fmla="val 10588"/>
            </a:avLst>
          </a:prstGeom>
          <a:solidFill>
            <a:srgbClr val="FFFFFF"/>
          </a:solidFill>
          <a:ln w="9525">
            <a:solidFill>
              <a:srgbClr val="DDE4EC"/>
            </a:solidFill>
            <a:prstDash val="solid"/>
          </a:ln>
        </p:spPr>
      </p:sp>
      <p:sp>
        <p:nvSpPr>
          <p:cNvPr id="28" name="Shape 25"/>
          <p:cNvSpPr/>
          <p:nvPr/>
        </p:nvSpPr>
        <p:spPr>
          <a:xfrm>
            <a:off x="594360" y="4248912"/>
            <a:ext cx="310896" cy="310896"/>
          </a:xfrm>
          <a:prstGeom prst="ellipse">
            <a:avLst/>
          </a:prstGeom>
          <a:solidFill>
            <a:srgbClr val="0B5C80"/>
          </a:solidFill>
          <a:ln w="12700">
            <a:solidFill>
              <a:srgbClr val="0B5C80"/>
            </a:solidFill>
            <a:prstDash val="solid"/>
          </a:ln>
        </p:spPr>
      </p:sp>
      <p:sp>
        <p:nvSpPr>
          <p:cNvPr id="29" name="Text 26"/>
          <p:cNvSpPr txBox="1"/>
          <p:nvPr/>
        </p:nvSpPr>
        <p:spPr>
          <a:xfrm>
            <a:off x="594360" y="4248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0" name="Text 27"/>
          <p:cNvSpPr txBox="1"/>
          <p:nvPr/>
        </p:nvSpPr>
        <p:spPr>
          <a:xfrm>
            <a:off x="1051560" y="4145280"/>
            <a:ext cx="7498080" cy="518160"/>
          </a:xfrm>
          <a:prstGeom prst="rect">
            <a:avLst/>
          </a:prstGeom>
          <a:noFill/>
          <a:ln/>
        </p:spPr>
        <p:txBody>
          <a:bodyPr wrap="square" lIns="0" tIns="0" rIns="0" bIns="0" rtlCol="0" anchor="ctr"/>
          <a:lstStyle/>
          <a:p>
            <a:pPr indent="0" marL="0">
              <a:buNone/>
            </a:pPr>
            <a:r>
              <a:rPr lang="en-US" sz="1050" dirty="0">
                <a:solidFill>
                  <a:srgbClr val="2B3445"/>
                </a:solidFill>
              </a:rPr>
              <a:t>Provide basic notifications and status updates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06</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Literature Survey</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5</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Prior work informing this project spans four broad areas:</a:t>
            </a:r>
            <a:endParaRPr lang="en-US" sz="1100" dirty="0"/>
          </a:p>
        </p:txBody>
      </p:sp>
      <p:sp>
        <p:nvSpPr>
          <p:cNvPr id="8" name="Shape 5"/>
          <p:cNvSpPr/>
          <p:nvPr/>
        </p:nvSpPr>
        <p:spPr>
          <a:xfrm>
            <a:off x="457200" y="1371600"/>
            <a:ext cx="4046220" cy="1371600"/>
          </a:xfrm>
          <a:prstGeom prst="roundRect">
            <a:avLst>
              <a:gd name="adj" fmla="val 5333"/>
            </a:avLst>
          </a:prstGeom>
          <a:solidFill>
            <a:srgbClr val="FFFFFF"/>
          </a:solidFill>
          <a:ln w="9525">
            <a:solidFill>
              <a:srgbClr val="DDE4EC"/>
            </a:solidFill>
            <a:prstDash val="solid"/>
          </a:ln>
        </p:spPr>
      </p:sp>
      <p:sp>
        <p:nvSpPr>
          <p:cNvPr id="9" name="Shape 6"/>
          <p:cNvSpPr/>
          <p:nvPr/>
        </p:nvSpPr>
        <p:spPr>
          <a:xfrm>
            <a:off x="457200" y="1463040"/>
            <a:ext cx="54864" cy="1188720"/>
          </a:xfrm>
          <a:prstGeom prst="rect">
            <a:avLst/>
          </a:prstGeom>
          <a:solidFill>
            <a:srgbClr val="E8A33D"/>
          </a:solidFill>
          <a:ln w="12700">
            <a:solidFill>
              <a:srgbClr val="E8A33D"/>
            </a:solidFill>
            <a:prstDash val="solid"/>
          </a:ln>
        </p:spPr>
      </p:sp>
      <p:sp>
        <p:nvSpPr>
          <p:cNvPr id="10" name="Text 7"/>
          <p:cNvSpPr txBox="1"/>
          <p:nvPr/>
        </p:nvSpPr>
        <p:spPr>
          <a:xfrm>
            <a:off x="64008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GPS Vehicle Tracking</a:t>
            </a:r>
            <a:endParaRPr lang="en-US" sz="1200" dirty="0"/>
          </a:p>
        </p:txBody>
      </p:sp>
      <p:sp>
        <p:nvSpPr>
          <p:cNvPr id="11" name="Text 8"/>
          <p:cNvSpPr txBox="1"/>
          <p:nvPr/>
        </p:nvSpPr>
        <p:spPr>
          <a:xfrm>
            <a:off x="64008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Studies show GPS units can report vehicle positions at regular intervals.</a:t>
            </a:r>
            <a:endParaRPr lang="en-US" sz="1000" dirty="0"/>
          </a:p>
        </p:txBody>
      </p:sp>
      <p:sp>
        <p:nvSpPr>
          <p:cNvPr id="12" name="Shape 9"/>
          <p:cNvSpPr/>
          <p:nvPr/>
        </p:nvSpPr>
        <p:spPr>
          <a:xfrm>
            <a:off x="4640580" y="1371600"/>
            <a:ext cx="4046220" cy="1371600"/>
          </a:xfrm>
          <a:prstGeom prst="roundRect">
            <a:avLst>
              <a:gd name="adj" fmla="val 5333"/>
            </a:avLst>
          </a:prstGeom>
          <a:solidFill>
            <a:srgbClr val="FFFFFF"/>
          </a:solidFill>
          <a:ln w="9525">
            <a:solidFill>
              <a:srgbClr val="DDE4EC"/>
            </a:solidFill>
            <a:prstDash val="solid"/>
          </a:ln>
        </p:spPr>
      </p:sp>
      <p:sp>
        <p:nvSpPr>
          <p:cNvPr id="13" name="Shape 10"/>
          <p:cNvSpPr/>
          <p:nvPr/>
        </p:nvSpPr>
        <p:spPr>
          <a:xfrm>
            <a:off x="4640580" y="1463040"/>
            <a:ext cx="54864" cy="1188720"/>
          </a:xfrm>
          <a:prstGeom prst="rect">
            <a:avLst/>
          </a:prstGeom>
          <a:solidFill>
            <a:srgbClr val="E8A33D"/>
          </a:solidFill>
          <a:ln w="12700">
            <a:solidFill>
              <a:srgbClr val="E8A33D"/>
            </a:solidFill>
            <a:prstDash val="solid"/>
          </a:ln>
        </p:spPr>
      </p:sp>
      <p:sp>
        <p:nvSpPr>
          <p:cNvPr id="14" name="Text 11"/>
          <p:cNvSpPr txBox="1"/>
          <p:nvPr/>
        </p:nvSpPr>
        <p:spPr>
          <a:xfrm>
            <a:off x="482346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ETA Prediction</a:t>
            </a:r>
            <a:endParaRPr lang="en-US" sz="1200" dirty="0"/>
          </a:p>
        </p:txBody>
      </p:sp>
      <p:sp>
        <p:nvSpPr>
          <p:cNvPr id="15" name="Text 12"/>
          <p:cNvSpPr txBox="1"/>
          <p:nvPr/>
        </p:nvSpPr>
        <p:spPr>
          <a:xfrm>
            <a:off x="482346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Arrival estimates combine distance, speed and schedule data.</a:t>
            </a:r>
            <a:endParaRPr lang="en-US" sz="1000" dirty="0"/>
          </a:p>
        </p:txBody>
      </p:sp>
      <p:sp>
        <p:nvSpPr>
          <p:cNvPr id="16" name="Shape 13"/>
          <p:cNvSpPr/>
          <p:nvPr/>
        </p:nvSpPr>
        <p:spPr>
          <a:xfrm>
            <a:off x="457200" y="2880360"/>
            <a:ext cx="4046220" cy="1371600"/>
          </a:xfrm>
          <a:prstGeom prst="roundRect">
            <a:avLst>
              <a:gd name="adj" fmla="val 5333"/>
            </a:avLst>
          </a:prstGeom>
          <a:solidFill>
            <a:srgbClr val="FFFFFF"/>
          </a:solidFill>
          <a:ln w="9525">
            <a:solidFill>
              <a:srgbClr val="DDE4EC"/>
            </a:solidFill>
            <a:prstDash val="solid"/>
          </a:ln>
        </p:spPr>
      </p:sp>
      <p:sp>
        <p:nvSpPr>
          <p:cNvPr id="17" name="Shape 14"/>
          <p:cNvSpPr/>
          <p:nvPr/>
        </p:nvSpPr>
        <p:spPr>
          <a:xfrm>
            <a:off x="457200" y="2971800"/>
            <a:ext cx="54864" cy="1188720"/>
          </a:xfrm>
          <a:prstGeom prst="rect">
            <a:avLst/>
          </a:prstGeom>
          <a:solidFill>
            <a:srgbClr val="E8A33D"/>
          </a:solidFill>
          <a:ln w="12700">
            <a:solidFill>
              <a:srgbClr val="E8A33D"/>
            </a:solidFill>
            <a:prstDash val="solid"/>
          </a:ln>
        </p:spPr>
      </p:sp>
      <p:sp>
        <p:nvSpPr>
          <p:cNvPr id="18" name="Text 15"/>
          <p:cNvSpPr txBox="1"/>
          <p:nvPr/>
        </p:nvSpPr>
        <p:spPr>
          <a:xfrm>
            <a:off x="64008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Database Design for Transit</a:t>
            </a:r>
            <a:endParaRPr lang="en-US" sz="1200" dirty="0"/>
          </a:p>
        </p:txBody>
      </p:sp>
      <p:sp>
        <p:nvSpPr>
          <p:cNvPr id="19" name="Text 16"/>
          <p:cNvSpPr txBox="1"/>
          <p:nvPr/>
        </p:nvSpPr>
        <p:spPr>
          <a:xfrm>
            <a:off x="64008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Relational models link routes, stops, vehicles and schedules consistently.</a:t>
            </a:r>
            <a:endParaRPr lang="en-US" sz="1000" dirty="0"/>
          </a:p>
        </p:txBody>
      </p:sp>
      <p:sp>
        <p:nvSpPr>
          <p:cNvPr id="20" name="Shape 17"/>
          <p:cNvSpPr/>
          <p:nvPr/>
        </p:nvSpPr>
        <p:spPr>
          <a:xfrm>
            <a:off x="4640580" y="2880360"/>
            <a:ext cx="4046220" cy="1371600"/>
          </a:xfrm>
          <a:prstGeom prst="roundRect">
            <a:avLst>
              <a:gd name="adj" fmla="val 5333"/>
            </a:avLst>
          </a:prstGeom>
          <a:solidFill>
            <a:srgbClr val="FFFFFF"/>
          </a:solidFill>
          <a:ln w="9525">
            <a:solidFill>
              <a:srgbClr val="DDE4EC"/>
            </a:solidFill>
            <a:prstDash val="solid"/>
          </a:ln>
        </p:spPr>
      </p:sp>
      <p:sp>
        <p:nvSpPr>
          <p:cNvPr id="21" name="Shape 18"/>
          <p:cNvSpPr/>
          <p:nvPr/>
        </p:nvSpPr>
        <p:spPr>
          <a:xfrm>
            <a:off x="4640580" y="2971800"/>
            <a:ext cx="54864" cy="1188720"/>
          </a:xfrm>
          <a:prstGeom prst="rect">
            <a:avLst/>
          </a:prstGeom>
          <a:solidFill>
            <a:srgbClr val="E8A33D"/>
          </a:solidFill>
          <a:ln w="12700">
            <a:solidFill>
              <a:srgbClr val="E8A33D"/>
            </a:solidFill>
            <a:prstDash val="solid"/>
          </a:ln>
        </p:spPr>
      </p:sp>
      <p:sp>
        <p:nvSpPr>
          <p:cNvPr id="22" name="Text 19"/>
          <p:cNvSpPr txBox="1"/>
          <p:nvPr/>
        </p:nvSpPr>
        <p:spPr>
          <a:xfrm>
            <a:off x="482346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Real-Time Web Systems</a:t>
            </a:r>
            <a:endParaRPr lang="en-US" sz="1200" dirty="0"/>
          </a:p>
        </p:txBody>
      </p:sp>
      <p:sp>
        <p:nvSpPr>
          <p:cNvPr id="23" name="Text 20"/>
          <p:cNvSpPr txBox="1"/>
          <p:nvPr/>
        </p:nvSpPr>
        <p:spPr>
          <a:xfrm>
            <a:off x="482346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REST APIs and polling or push updates keep passenger screens current.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07</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Research Gap</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6</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Existing public transport systems commonly fall short in:</a:t>
            </a:r>
            <a:endParaRPr lang="en-US" sz="1100" dirty="0"/>
          </a:p>
        </p:txBody>
      </p:sp>
      <p:sp>
        <p:nvSpPr>
          <p:cNvPr id="8" name="Shape 5"/>
          <p:cNvSpPr/>
          <p:nvPr/>
        </p:nvSpPr>
        <p:spPr>
          <a:xfrm>
            <a:off x="457200" y="1371600"/>
            <a:ext cx="8229600" cy="585216"/>
          </a:xfrm>
          <a:prstGeom prst="roundRect">
            <a:avLst>
              <a:gd name="adj" fmla="val 9375"/>
            </a:avLst>
          </a:prstGeom>
          <a:solidFill>
            <a:srgbClr val="FFFFFF"/>
          </a:solidFill>
          <a:ln w="9525">
            <a:solidFill>
              <a:srgbClr val="DDE4EC"/>
            </a:solidFill>
            <a:prstDash val="solid"/>
          </a:ln>
        </p:spPr>
      </p:sp>
      <p:sp>
        <p:nvSpPr>
          <p:cNvPr id="9" name="Shape 6"/>
          <p:cNvSpPr/>
          <p:nvPr/>
        </p:nvSpPr>
        <p:spPr>
          <a:xfrm>
            <a:off x="594360" y="1508760"/>
            <a:ext cx="310896" cy="310896"/>
          </a:xfrm>
          <a:prstGeom prst="ellipse">
            <a:avLst/>
          </a:prstGeom>
          <a:solidFill>
            <a:srgbClr val="C0392B"/>
          </a:solidFill>
          <a:ln w="12700">
            <a:solidFill>
              <a:srgbClr val="C0392B"/>
            </a:solidFill>
            <a:prstDash val="solid"/>
          </a:ln>
        </p:spPr>
      </p:sp>
      <p:sp>
        <p:nvSpPr>
          <p:cNvPr id="10" name="Text 7"/>
          <p:cNvSpPr txBox="1"/>
          <p:nvPr/>
        </p:nvSpPr>
        <p:spPr>
          <a:xfrm>
            <a:off x="594360" y="1508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Text 8"/>
          <p:cNvSpPr txBox="1"/>
          <p:nvPr/>
        </p:nvSpPr>
        <p:spPr>
          <a:xfrm>
            <a:off x="1051560" y="1371600"/>
            <a:ext cx="7498080" cy="585216"/>
          </a:xfrm>
          <a:prstGeom prst="rect">
            <a:avLst/>
          </a:prstGeom>
          <a:noFill/>
          <a:ln/>
        </p:spPr>
        <p:txBody>
          <a:bodyPr wrap="square" lIns="0" tIns="0" rIns="0" bIns="0" rtlCol="0" anchor="ctr"/>
          <a:lstStyle/>
          <a:p>
            <a:pPr indent="0" marL="0">
              <a:buNone/>
            </a:pPr>
            <a:r>
              <a:rPr lang="en-US" sz="1050" dirty="0">
                <a:solidFill>
                  <a:srgbClr val="2B3445"/>
                </a:solidFill>
              </a:rPr>
              <a:t>Passengers mostly depend on fixed schedules or information boards</a:t>
            </a:r>
            <a:endParaRPr lang="en-US" sz="1050" dirty="0"/>
          </a:p>
        </p:txBody>
      </p:sp>
      <p:sp>
        <p:nvSpPr>
          <p:cNvPr id="12" name="Shape 9"/>
          <p:cNvSpPr/>
          <p:nvPr/>
        </p:nvSpPr>
        <p:spPr>
          <a:xfrm>
            <a:off x="457200" y="2048256"/>
            <a:ext cx="8229600" cy="585216"/>
          </a:xfrm>
          <a:prstGeom prst="roundRect">
            <a:avLst>
              <a:gd name="adj" fmla="val 9375"/>
            </a:avLst>
          </a:prstGeom>
          <a:solidFill>
            <a:srgbClr val="FFFFFF"/>
          </a:solidFill>
          <a:ln w="9525">
            <a:solidFill>
              <a:srgbClr val="DDE4EC"/>
            </a:solidFill>
            <a:prstDash val="solid"/>
          </a:ln>
        </p:spPr>
      </p:sp>
      <p:sp>
        <p:nvSpPr>
          <p:cNvPr id="13" name="Shape 10"/>
          <p:cNvSpPr/>
          <p:nvPr/>
        </p:nvSpPr>
        <p:spPr>
          <a:xfrm>
            <a:off x="594360" y="2185416"/>
            <a:ext cx="310896" cy="310896"/>
          </a:xfrm>
          <a:prstGeom prst="ellipse">
            <a:avLst/>
          </a:prstGeom>
          <a:solidFill>
            <a:srgbClr val="C0392B"/>
          </a:solidFill>
          <a:ln w="12700">
            <a:solidFill>
              <a:srgbClr val="C0392B"/>
            </a:solidFill>
            <a:prstDash val="solid"/>
          </a:ln>
        </p:spPr>
      </p:sp>
      <p:sp>
        <p:nvSpPr>
          <p:cNvPr id="14" name="Text 11"/>
          <p:cNvSpPr txBox="1"/>
          <p:nvPr/>
        </p:nvSpPr>
        <p:spPr>
          <a:xfrm>
            <a:off x="594360" y="21854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5" name="Text 12"/>
          <p:cNvSpPr txBox="1"/>
          <p:nvPr/>
        </p:nvSpPr>
        <p:spPr>
          <a:xfrm>
            <a:off x="1051560" y="2048256"/>
            <a:ext cx="7498080" cy="585216"/>
          </a:xfrm>
          <a:prstGeom prst="rect">
            <a:avLst/>
          </a:prstGeom>
          <a:noFill/>
          <a:ln/>
        </p:spPr>
        <p:txBody>
          <a:bodyPr wrap="square" lIns="0" tIns="0" rIns="0" bIns="0" rtlCol="0" anchor="ctr"/>
          <a:lstStyle/>
          <a:p>
            <a:pPr indent="0" marL="0">
              <a:buNone/>
            </a:pPr>
            <a:r>
              <a:rPr lang="en-US" sz="1050" dirty="0">
                <a:solidFill>
                  <a:srgbClr val="2B3445"/>
                </a:solidFill>
              </a:rPr>
              <a:t>Live vehicle location is usually not available to the public</a:t>
            </a:r>
            <a:endParaRPr lang="en-US" sz="1050" dirty="0"/>
          </a:p>
        </p:txBody>
      </p:sp>
      <p:sp>
        <p:nvSpPr>
          <p:cNvPr id="16" name="Shape 13"/>
          <p:cNvSpPr/>
          <p:nvPr/>
        </p:nvSpPr>
        <p:spPr>
          <a:xfrm>
            <a:off x="457200" y="2724912"/>
            <a:ext cx="8229600" cy="585216"/>
          </a:xfrm>
          <a:prstGeom prst="roundRect">
            <a:avLst>
              <a:gd name="adj" fmla="val 9375"/>
            </a:avLst>
          </a:prstGeom>
          <a:solidFill>
            <a:srgbClr val="FFFFFF"/>
          </a:solidFill>
          <a:ln w="9525">
            <a:solidFill>
              <a:srgbClr val="DDE4EC"/>
            </a:solidFill>
            <a:prstDash val="solid"/>
          </a:ln>
        </p:spPr>
      </p:sp>
      <p:sp>
        <p:nvSpPr>
          <p:cNvPr id="17" name="Shape 14"/>
          <p:cNvSpPr/>
          <p:nvPr/>
        </p:nvSpPr>
        <p:spPr>
          <a:xfrm>
            <a:off x="594360" y="2862072"/>
            <a:ext cx="310896" cy="310896"/>
          </a:xfrm>
          <a:prstGeom prst="ellipse">
            <a:avLst/>
          </a:prstGeom>
          <a:solidFill>
            <a:srgbClr val="C0392B"/>
          </a:solidFill>
          <a:ln w="12700">
            <a:solidFill>
              <a:srgbClr val="C0392B"/>
            </a:solidFill>
            <a:prstDash val="solid"/>
          </a:ln>
        </p:spPr>
      </p:sp>
      <p:sp>
        <p:nvSpPr>
          <p:cNvPr id="18" name="Text 15"/>
          <p:cNvSpPr txBox="1"/>
          <p:nvPr/>
        </p:nvSpPr>
        <p:spPr>
          <a:xfrm>
            <a:off x="594360" y="2862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9" name="Text 16"/>
          <p:cNvSpPr txBox="1"/>
          <p:nvPr/>
        </p:nvSpPr>
        <p:spPr>
          <a:xfrm>
            <a:off x="1051560" y="2724912"/>
            <a:ext cx="7498080" cy="585216"/>
          </a:xfrm>
          <a:prstGeom prst="rect">
            <a:avLst/>
          </a:prstGeom>
          <a:noFill/>
          <a:ln/>
        </p:spPr>
        <p:txBody>
          <a:bodyPr wrap="square" lIns="0" tIns="0" rIns="0" bIns="0" rtlCol="0" anchor="ctr"/>
          <a:lstStyle/>
          <a:p>
            <a:pPr indent="0" marL="0">
              <a:buNone/>
            </a:pPr>
            <a:r>
              <a:rPr lang="en-US" sz="1050" dirty="0">
                <a:solidFill>
                  <a:srgbClr val="2B3445"/>
                </a:solidFill>
              </a:rPr>
              <a:t>Vehicle, route and schedule data is kept in separate systems</a:t>
            </a:r>
            <a:endParaRPr lang="en-US" sz="1050" dirty="0"/>
          </a:p>
        </p:txBody>
      </p:sp>
      <p:sp>
        <p:nvSpPr>
          <p:cNvPr id="20" name="Shape 17"/>
          <p:cNvSpPr/>
          <p:nvPr/>
        </p:nvSpPr>
        <p:spPr>
          <a:xfrm>
            <a:off x="457200" y="3401568"/>
            <a:ext cx="8229600" cy="585216"/>
          </a:xfrm>
          <a:prstGeom prst="roundRect">
            <a:avLst>
              <a:gd name="adj" fmla="val 9375"/>
            </a:avLst>
          </a:prstGeom>
          <a:solidFill>
            <a:srgbClr val="FFFFFF"/>
          </a:solidFill>
          <a:ln w="9525">
            <a:solidFill>
              <a:srgbClr val="DDE4EC"/>
            </a:solidFill>
            <a:prstDash val="solid"/>
          </a:ln>
        </p:spPr>
      </p:sp>
      <p:sp>
        <p:nvSpPr>
          <p:cNvPr id="21" name="Shape 18"/>
          <p:cNvSpPr/>
          <p:nvPr/>
        </p:nvSpPr>
        <p:spPr>
          <a:xfrm>
            <a:off x="594360" y="3538728"/>
            <a:ext cx="310896" cy="310896"/>
          </a:xfrm>
          <a:prstGeom prst="ellipse">
            <a:avLst/>
          </a:prstGeom>
          <a:solidFill>
            <a:srgbClr val="C0392B"/>
          </a:solidFill>
          <a:ln w="12700">
            <a:solidFill>
              <a:srgbClr val="C0392B"/>
            </a:solidFill>
            <a:prstDash val="solid"/>
          </a:ln>
        </p:spPr>
      </p:sp>
      <p:sp>
        <p:nvSpPr>
          <p:cNvPr id="22" name="Text 19"/>
          <p:cNvSpPr txBox="1"/>
          <p:nvPr/>
        </p:nvSpPr>
        <p:spPr>
          <a:xfrm>
            <a:off x="594360" y="3538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3" name="Text 20"/>
          <p:cNvSpPr txBox="1"/>
          <p:nvPr/>
        </p:nvSpPr>
        <p:spPr>
          <a:xfrm>
            <a:off x="1051560" y="3401568"/>
            <a:ext cx="7498080" cy="585216"/>
          </a:xfrm>
          <a:prstGeom prst="rect">
            <a:avLst/>
          </a:prstGeom>
          <a:noFill/>
          <a:ln/>
        </p:spPr>
        <p:txBody>
          <a:bodyPr wrap="square" lIns="0" tIns="0" rIns="0" bIns="0" rtlCol="0" anchor="ctr"/>
          <a:lstStyle/>
          <a:p>
            <a:pPr indent="0" marL="0">
              <a:buNone/>
            </a:pPr>
            <a:r>
              <a:rPr lang="en-US" sz="1050" dirty="0">
                <a:solidFill>
                  <a:srgbClr val="2B3445"/>
                </a:solidFill>
              </a:rPr>
              <a:t>Arrival estimates and real-time notifications are missing or unreliable</a:t>
            </a:r>
            <a:endParaRPr lang="en-US" sz="1050" dirty="0"/>
          </a:p>
        </p:txBody>
      </p:sp>
      <p:sp>
        <p:nvSpPr>
          <p:cNvPr id="24" name="Shape 21"/>
          <p:cNvSpPr/>
          <p:nvPr/>
        </p:nvSpPr>
        <p:spPr>
          <a:xfrm>
            <a:off x="457200" y="4078224"/>
            <a:ext cx="8229600" cy="585216"/>
          </a:xfrm>
          <a:prstGeom prst="roundRect">
            <a:avLst>
              <a:gd name="adj" fmla="val 9375"/>
            </a:avLst>
          </a:prstGeom>
          <a:solidFill>
            <a:srgbClr val="FFFFFF"/>
          </a:solidFill>
          <a:ln w="9525">
            <a:solidFill>
              <a:srgbClr val="DDE4EC"/>
            </a:solidFill>
            <a:prstDash val="solid"/>
          </a:ln>
        </p:spPr>
      </p:sp>
      <p:sp>
        <p:nvSpPr>
          <p:cNvPr id="25" name="Shape 22"/>
          <p:cNvSpPr/>
          <p:nvPr/>
        </p:nvSpPr>
        <p:spPr>
          <a:xfrm>
            <a:off x="594360" y="4215384"/>
            <a:ext cx="310896" cy="310896"/>
          </a:xfrm>
          <a:prstGeom prst="ellipse">
            <a:avLst/>
          </a:prstGeom>
          <a:solidFill>
            <a:srgbClr val="C0392B"/>
          </a:solidFill>
          <a:ln w="12700">
            <a:solidFill>
              <a:srgbClr val="C0392B"/>
            </a:solidFill>
            <a:prstDash val="solid"/>
          </a:ln>
        </p:spPr>
      </p:sp>
      <p:sp>
        <p:nvSpPr>
          <p:cNvPr id="26" name="Text 23"/>
          <p:cNvSpPr txBox="1"/>
          <p:nvPr/>
        </p:nvSpPr>
        <p:spPr>
          <a:xfrm>
            <a:off x="594360" y="42153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7" name="Text 24"/>
          <p:cNvSpPr txBox="1"/>
          <p:nvPr/>
        </p:nvSpPr>
        <p:spPr>
          <a:xfrm>
            <a:off x="1051560" y="4078224"/>
            <a:ext cx="7498080" cy="585216"/>
          </a:xfrm>
          <a:prstGeom prst="rect">
            <a:avLst/>
          </a:prstGeom>
          <a:noFill/>
          <a:ln/>
        </p:spPr>
        <p:txBody>
          <a:bodyPr wrap="square" lIns="0" tIns="0" rIns="0" bIns="0" rtlCol="0" anchor="ctr"/>
          <a:lstStyle/>
          <a:p>
            <a:pPr indent="0" marL="0">
              <a:buNone/>
            </a:pPr>
            <a:r>
              <a:rPr lang="en-US" sz="1050" dirty="0">
                <a:solidFill>
                  <a:srgbClr val="2B3445"/>
                </a:solidFill>
              </a:rPr>
              <a:t>Many solutions lack a unified passenger view and operator database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08</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Proposed System</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7</a:t>
            </a:r>
            <a:endParaRPr lang="en-US" sz="900" dirty="0"/>
          </a:p>
        </p:txBody>
      </p:sp>
      <p:sp>
        <p:nvSpPr>
          <p:cNvPr id="7" name="Shape 4"/>
          <p:cNvSpPr/>
          <p:nvPr/>
        </p:nvSpPr>
        <p:spPr>
          <a:xfrm>
            <a:off x="457200" y="1097280"/>
            <a:ext cx="2651760" cy="1371600"/>
          </a:xfrm>
          <a:prstGeom prst="roundRect">
            <a:avLst>
              <a:gd name="adj" fmla="val 5333"/>
            </a:avLst>
          </a:prstGeom>
          <a:solidFill>
            <a:srgbClr val="FFFFFF"/>
          </a:solidFill>
          <a:ln w="9525">
            <a:solidFill>
              <a:srgbClr val="DDE4EC"/>
            </a:solidFill>
            <a:prstDash val="solid"/>
          </a:ln>
        </p:spPr>
      </p:sp>
      <p:sp>
        <p:nvSpPr>
          <p:cNvPr id="8" name="Shape 5"/>
          <p:cNvSpPr/>
          <p:nvPr/>
        </p:nvSpPr>
        <p:spPr>
          <a:xfrm>
            <a:off x="457200" y="1188720"/>
            <a:ext cx="54864" cy="1188720"/>
          </a:xfrm>
          <a:prstGeom prst="rect">
            <a:avLst/>
          </a:prstGeom>
          <a:solidFill>
            <a:srgbClr val="E8A33D"/>
          </a:solidFill>
          <a:ln w="12700">
            <a:solidFill>
              <a:srgbClr val="E8A33D"/>
            </a:solidFill>
            <a:prstDash val="solid"/>
          </a:ln>
        </p:spPr>
      </p:sp>
      <p:sp>
        <p:nvSpPr>
          <p:cNvPr id="9" name="Text 6"/>
          <p:cNvSpPr txBox="1"/>
          <p:nvPr/>
        </p:nvSpPr>
        <p:spPr>
          <a:xfrm>
            <a:off x="64008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Live Vehicle Tracking</a:t>
            </a:r>
            <a:endParaRPr lang="en-US" sz="1200" dirty="0"/>
          </a:p>
        </p:txBody>
      </p:sp>
      <p:sp>
        <p:nvSpPr>
          <p:cNvPr id="10" name="Text 7"/>
          <p:cNvSpPr txBox="1"/>
          <p:nvPr/>
        </p:nvSpPr>
        <p:spPr>
          <a:xfrm>
            <a:off x="64008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Current location of buses.</a:t>
            </a:r>
            <a:endParaRPr lang="en-US" sz="1000" dirty="0"/>
          </a:p>
        </p:txBody>
      </p:sp>
      <p:sp>
        <p:nvSpPr>
          <p:cNvPr id="11" name="Shape 8"/>
          <p:cNvSpPr/>
          <p:nvPr/>
        </p:nvSpPr>
        <p:spPr>
          <a:xfrm>
            <a:off x="3246120" y="1097280"/>
            <a:ext cx="2651760" cy="1371600"/>
          </a:xfrm>
          <a:prstGeom prst="roundRect">
            <a:avLst>
              <a:gd name="adj" fmla="val 5333"/>
            </a:avLst>
          </a:prstGeom>
          <a:solidFill>
            <a:srgbClr val="FFFFFF"/>
          </a:solidFill>
          <a:ln w="9525">
            <a:solidFill>
              <a:srgbClr val="DDE4EC"/>
            </a:solidFill>
            <a:prstDash val="solid"/>
          </a:ln>
        </p:spPr>
      </p:sp>
      <p:sp>
        <p:nvSpPr>
          <p:cNvPr id="12" name="Shape 9"/>
          <p:cNvSpPr/>
          <p:nvPr/>
        </p:nvSpPr>
        <p:spPr>
          <a:xfrm>
            <a:off x="3246120" y="1188720"/>
            <a:ext cx="54864" cy="1188720"/>
          </a:xfrm>
          <a:prstGeom prst="rect">
            <a:avLst/>
          </a:prstGeom>
          <a:solidFill>
            <a:srgbClr val="1F7A9C"/>
          </a:solidFill>
          <a:ln w="12700">
            <a:solidFill>
              <a:srgbClr val="1F7A9C"/>
            </a:solidFill>
            <a:prstDash val="solid"/>
          </a:ln>
        </p:spPr>
      </p:sp>
      <p:sp>
        <p:nvSpPr>
          <p:cNvPr id="13" name="Text 10"/>
          <p:cNvSpPr txBox="1"/>
          <p:nvPr/>
        </p:nvSpPr>
        <p:spPr>
          <a:xfrm>
            <a:off x="342900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Route Information</a:t>
            </a:r>
            <a:endParaRPr lang="en-US" sz="1200" dirty="0"/>
          </a:p>
        </p:txBody>
      </p:sp>
      <p:sp>
        <p:nvSpPr>
          <p:cNvPr id="14" name="Text 11"/>
          <p:cNvSpPr txBox="1"/>
          <p:nvPr/>
        </p:nvSpPr>
        <p:spPr>
          <a:xfrm>
            <a:off x="342900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Available routes and stops.</a:t>
            </a:r>
            <a:endParaRPr lang="en-US" sz="1000" dirty="0"/>
          </a:p>
        </p:txBody>
      </p:sp>
      <p:sp>
        <p:nvSpPr>
          <p:cNvPr id="15" name="Shape 12"/>
          <p:cNvSpPr/>
          <p:nvPr/>
        </p:nvSpPr>
        <p:spPr>
          <a:xfrm>
            <a:off x="6035040" y="1097280"/>
            <a:ext cx="2651760" cy="1371600"/>
          </a:xfrm>
          <a:prstGeom prst="roundRect">
            <a:avLst>
              <a:gd name="adj" fmla="val 5333"/>
            </a:avLst>
          </a:prstGeom>
          <a:solidFill>
            <a:srgbClr val="FFFFFF"/>
          </a:solidFill>
          <a:ln w="9525">
            <a:solidFill>
              <a:srgbClr val="DDE4EC"/>
            </a:solidFill>
            <a:prstDash val="solid"/>
          </a:ln>
        </p:spPr>
      </p:sp>
      <p:sp>
        <p:nvSpPr>
          <p:cNvPr id="16" name="Shape 13"/>
          <p:cNvSpPr/>
          <p:nvPr/>
        </p:nvSpPr>
        <p:spPr>
          <a:xfrm>
            <a:off x="6035040" y="1188720"/>
            <a:ext cx="54864" cy="1188720"/>
          </a:xfrm>
          <a:prstGeom prst="rect">
            <a:avLst/>
          </a:prstGeom>
          <a:solidFill>
            <a:srgbClr val="E8A33D"/>
          </a:solidFill>
          <a:ln w="12700">
            <a:solidFill>
              <a:srgbClr val="E8A33D"/>
            </a:solidFill>
            <a:prstDash val="solid"/>
          </a:ln>
        </p:spPr>
      </p:sp>
      <p:sp>
        <p:nvSpPr>
          <p:cNvPr id="17" name="Text 14"/>
          <p:cNvSpPr txBox="1"/>
          <p:nvPr/>
        </p:nvSpPr>
        <p:spPr>
          <a:xfrm>
            <a:off x="621792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Estimated Arrival Time</a:t>
            </a:r>
            <a:endParaRPr lang="en-US" sz="1200" dirty="0"/>
          </a:p>
        </p:txBody>
      </p:sp>
      <p:sp>
        <p:nvSpPr>
          <p:cNvPr id="18" name="Text 15"/>
          <p:cNvSpPr txBox="1"/>
          <p:nvPr/>
        </p:nvSpPr>
        <p:spPr>
          <a:xfrm>
            <a:off x="621792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Expected arrival at a stop.</a:t>
            </a:r>
            <a:endParaRPr lang="en-US" sz="1000" dirty="0"/>
          </a:p>
        </p:txBody>
      </p:sp>
      <p:sp>
        <p:nvSpPr>
          <p:cNvPr id="19" name="Shape 16"/>
          <p:cNvSpPr/>
          <p:nvPr/>
        </p:nvSpPr>
        <p:spPr>
          <a:xfrm>
            <a:off x="457200" y="2606040"/>
            <a:ext cx="2651760" cy="1371600"/>
          </a:xfrm>
          <a:prstGeom prst="roundRect">
            <a:avLst>
              <a:gd name="adj" fmla="val 5333"/>
            </a:avLst>
          </a:prstGeom>
          <a:solidFill>
            <a:srgbClr val="FFFFFF"/>
          </a:solidFill>
          <a:ln w="9525">
            <a:solidFill>
              <a:srgbClr val="DDE4EC"/>
            </a:solidFill>
            <a:prstDash val="solid"/>
          </a:ln>
        </p:spPr>
      </p:sp>
      <p:sp>
        <p:nvSpPr>
          <p:cNvPr id="20" name="Shape 17"/>
          <p:cNvSpPr/>
          <p:nvPr/>
        </p:nvSpPr>
        <p:spPr>
          <a:xfrm>
            <a:off x="457200" y="2697480"/>
            <a:ext cx="54864" cy="1188720"/>
          </a:xfrm>
          <a:prstGeom prst="rect">
            <a:avLst/>
          </a:prstGeom>
          <a:solidFill>
            <a:srgbClr val="1F7A9C"/>
          </a:solidFill>
          <a:ln w="12700">
            <a:solidFill>
              <a:srgbClr val="1F7A9C"/>
            </a:solidFill>
            <a:prstDash val="solid"/>
          </a:ln>
        </p:spPr>
      </p:sp>
      <p:sp>
        <p:nvSpPr>
          <p:cNvPr id="21" name="Text 18"/>
          <p:cNvSpPr txBox="1"/>
          <p:nvPr/>
        </p:nvSpPr>
        <p:spPr>
          <a:xfrm>
            <a:off x="64008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Stop Details</a:t>
            </a:r>
            <a:endParaRPr lang="en-US" sz="1200" dirty="0"/>
          </a:p>
        </p:txBody>
      </p:sp>
      <p:sp>
        <p:nvSpPr>
          <p:cNvPr id="22" name="Text 19"/>
          <p:cNvSpPr txBox="1"/>
          <p:nvPr/>
        </p:nvSpPr>
        <p:spPr>
          <a:xfrm>
            <a:off x="64008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Information about each stop.</a:t>
            </a:r>
            <a:endParaRPr lang="en-US" sz="1000" dirty="0"/>
          </a:p>
        </p:txBody>
      </p:sp>
      <p:sp>
        <p:nvSpPr>
          <p:cNvPr id="23" name="Shape 20"/>
          <p:cNvSpPr/>
          <p:nvPr/>
        </p:nvSpPr>
        <p:spPr>
          <a:xfrm>
            <a:off x="3246120" y="2606040"/>
            <a:ext cx="2651760" cy="1371600"/>
          </a:xfrm>
          <a:prstGeom prst="roundRect">
            <a:avLst>
              <a:gd name="adj" fmla="val 5333"/>
            </a:avLst>
          </a:prstGeom>
          <a:solidFill>
            <a:srgbClr val="FFFFFF"/>
          </a:solidFill>
          <a:ln w="9525">
            <a:solidFill>
              <a:srgbClr val="DDE4EC"/>
            </a:solidFill>
            <a:prstDash val="solid"/>
          </a:ln>
        </p:spPr>
      </p:sp>
      <p:sp>
        <p:nvSpPr>
          <p:cNvPr id="24" name="Shape 21"/>
          <p:cNvSpPr/>
          <p:nvPr/>
        </p:nvSpPr>
        <p:spPr>
          <a:xfrm>
            <a:off x="3246120" y="2697480"/>
            <a:ext cx="54864" cy="1188720"/>
          </a:xfrm>
          <a:prstGeom prst="rect">
            <a:avLst/>
          </a:prstGeom>
          <a:solidFill>
            <a:srgbClr val="E8A33D"/>
          </a:solidFill>
          <a:ln w="12700">
            <a:solidFill>
              <a:srgbClr val="E8A33D"/>
            </a:solidFill>
            <a:prstDash val="solid"/>
          </a:ln>
        </p:spPr>
      </p:sp>
      <p:sp>
        <p:nvSpPr>
          <p:cNvPr id="25" name="Text 22"/>
          <p:cNvSpPr txBox="1"/>
          <p:nvPr/>
        </p:nvSpPr>
        <p:spPr>
          <a:xfrm>
            <a:off x="342900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Vehicle Information</a:t>
            </a:r>
            <a:endParaRPr lang="en-US" sz="1200" dirty="0"/>
          </a:p>
        </p:txBody>
      </p:sp>
      <p:sp>
        <p:nvSpPr>
          <p:cNvPr id="26" name="Text 23"/>
          <p:cNvSpPr txBox="1"/>
          <p:nvPr/>
        </p:nvSpPr>
        <p:spPr>
          <a:xfrm>
            <a:off x="342900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Bus and vehicle details.</a:t>
            </a:r>
            <a:endParaRPr lang="en-US" sz="1000" dirty="0"/>
          </a:p>
        </p:txBody>
      </p:sp>
      <p:sp>
        <p:nvSpPr>
          <p:cNvPr id="27" name="Shape 24"/>
          <p:cNvSpPr/>
          <p:nvPr/>
        </p:nvSpPr>
        <p:spPr>
          <a:xfrm>
            <a:off x="6035040" y="2606040"/>
            <a:ext cx="2651760" cy="1371600"/>
          </a:xfrm>
          <a:prstGeom prst="roundRect">
            <a:avLst>
              <a:gd name="adj" fmla="val 5333"/>
            </a:avLst>
          </a:prstGeom>
          <a:solidFill>
            <a:srgbClr val="FFFFFF"/>
          </a:solidFill>
          <a:ln w="9525">
            <a:solidFill>
              <a:srgbClr val="DDE4EC"/>
            </a:solidFill>
            <a:prstDash val="solid"/>
          </a:ln>
        </p:spPr>
      </p:sp>
      <p:sp>
        <p:nvSpPr>
          <p:cNvPr id="28" name="Shape 25"/>
          <p:cNvSpPr/>
          <p:nvPr/>
        </p:nvSpPr>
        <p:spPr>
          <a:xfrm>
            <a:off x="6035040" y="2697480"/>
            <a:ext cx="54864" cy="1188720"/>
          </a:xfrm>
          <a:prstGeom prst="rect">
            <a:avLst/>
          </a:prstGeom>
          <a:solidFill>
            <a:srgbClr val="1F7A9C"/>
          </a:solidFill>
          <a:ln w="12700">
            <a:solidFill>
              <a:srgbClr val="1F7A9C"/>
            </a:solidFill>
            <a:prstDash val="solid"/>
          </a:ln>
        </p:spPr>
      </p:sp>
      <p:sp>
        <p:nvSpPr>
          <p:cNvPr id="29" name="Text 26"/>
          <p:cNvSpPr txBox="1"/>
          <p:nvPr/>
        </p:nvSpPr>
        <p:spPr>
          <a:xfrm>
            <a:off x="621792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Schedule &amp; Notifications</a:t>
            </a:r>
            <a:endParaRPr lang="en-US" sz="1200" dirty="0"/>
          </a:p>
        </p:txBody>
      </p:sp>
      <p:sp>
        <p:nvSpPr>
          <p:cNvPr id="30" name="Text 27"/>
          <p:cNvSpPr txBox="1"/>
          <p:nvPr/>
        </p:nvSpPr>
        <p:spPr>
          <a:xfrm>
            <a:off x="621792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Timings plus status updates.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09</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Requirements Specifications</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8</a:t>
            </a:r>
            <a:endParaRPr lang="en-US" sz="900" dirty="0"/>
          </a:p>
        </p:txBody>
      </p:sp>
      <p:sp>
        <p:nvSpPr>
          <p:cNvPr id="7" name="Shape 4"/>
          <p:cNvSpPr/>
          <p:nvPr/>
        </p:nvSpPr>
        <p:spPr>
          <a:xfrm>
            <a:off x="457200" y="1097280"/>
            <a:ext cx="8229600" cy="640080"/>
          </a:xfrm>
          <a:prstGeom prst="roundRect">
            <a:avLst>
              <a:gd name="adj" fmla="val 8571"/>
            </a:avLst>
          </a:prstGeom>
          <a:solidFill>
            <a:srgbClr val="FFFFFF"/>
          </a:solidFill>
          <a:ln w="9525">
            <a:solidFill>
              <a:srgbClr val="DDE4EC"/>
            </a:solidFill>
            <a:prstDash val="solid"/>
          </a:ln>
        </p:spPr>
      </p:sp>
      <p:sp>
        <p:nvSpPr>
          <p:cNvPr id="8" name="Shape 5"/>
          <p:cNvSpPr/>
          <p:nvPr/>
        </p:nvSpPr>
        <p:spPr>
          <a:xfrm>
            <a:off x="594360" y="1261872"/>
            <a:ext cx="310896" cy="310896"/>
          </a:xfrm>
          <a:prstGeom prst="ellipse">
            <a:avLst/>
          </a:prstGeom>
          <a:solidFill>
            <a:srgbClr val="0B5C80"/>
          </a:solidFill>
          <a:ln w="12700">
            <a:solidFill>
              <a:srgbClr val="0B5C80"/>
            </a:solidFill>
            <a:prstDash val="solid"/>
          </a:ln>
        </p:spPr>
      </p:sp>
      <p:sp>
        <p:nvSpPr>
          <p:cNvPr id="9" name="Text 6"/>
          <p:cNvSpPr txBox="1"/>
          <p:nvPr/>
        </p:nvSpPr>
        <p:spPr>
          <a:xfrm>
            <a:off x="594360" y="12618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Text 7"/>
          <p:cNvSpPr txBox="1"/>
          <p:nvPr/>
        </p:nvSpPr>
        <p:spPr>
          <a:xfrm>
            <a:off x="1051560" y="109728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Real-Time Tracking:  </a:t>
            </a:r>
            <a:pPr indent="0" marL="0">
              <a:buNone/>
            </a:pPr>
            <a:r>
              <a:rPr lang="en-US" sz="1050" dirty="0">
                <a:solidFill>
                  <a:srgbClr val="2B3445"/>
                </a:solidFill>
              </a:rPr>
              <a:t>collect and display current bus location using GPS updates.</a:t>
            </a:r>
            <a:endParaRPr lang="en-US" sz="1050" dirty="0"/>
          </a:p>
        </p:txBody>
      </p:sp>
      <p:sp>
        <p:nvSpPr>
          <p:cNvPr id="11" name="Shape 8"/>
          <p:cNvSpPr/>
          <p:nvPr/>
        </p:nvSpPr>
        <p:spPr>
          <a:xfrm>
            <a:off x="457200" y="1828800"/>
            <a:ext cx="8229600" cy="640080"/>
          </a:xfrm>
          <a:prstGeom prst="roundRect">
            <a:avLst>
              <a:gd name="adj" fmla="val 8571"/>
            </a:avLst>
          </a:prstGeom>
          <a:solidFill>
            <a:srgbClr val="FFFFFF"/>
          </a:solidFill>
          <a:ln w="9525">
            <a:solidFill>
              <a:srgbClr val="DDE4EC"/>
            </a:solidFill>
            <a:prstDash val="solid"/>
          </a:ln>
        </p:spPr>
      </p:sp>
      <p:sp>
        <p:nvSpPr>
          <p:cNvPr id="12" name="Shape 9"/>
          <p:cNvSpPr/>
          <p:nvPr/>
        </p:nvSpPr>
        <p:spPr>
          <a:xfrm>
            <a:off x="594360" y="1993392"/>
            <a:ext cx="310896" cy="310896"/>
          </a:xfrm>
          <a:prstGeom prst="ellipse">
            <a:avLst/>
          </a:prstGeom>
          <a:solidFill>
            <a:srgbClr val="0B5C80"/>
          </a:solidFill>
          <a:ln w="12700">
            <a:solidFill>
              <a:srgbClr val="0B5C80"/>
            </a:solidFill>
            <a:prstDash val="solid"/>
          </a:ln>
        </p:spPr>
      </p:sp>
      <p:sp>
        <p:nvSpPr>
          <p:cNvPr id="13" name="Text 10"/>
          <p:cNvSpPr txBox="1"/>
          <p:nvPr/>
        </p:nvSpPr>
        <p:spPr>
          <a:xfrm>
            <a:off x="594360" y="19933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1"/>
          <p:cNvSpPr txBox="1"/>
          <p:nvPr/>
        </p:nvSpPr>
        <p:spPr>
          <a:xfrm>
            <a:off x="1051560" y="182880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Route &amp; Stop Information:  </a:t>
            </a:r>
            <a:pPr indent="0" marL="0">
              <a:buNone/>
            </a:pPr>
            <a:r>
              <a:rPr lang="en-US" sz="1050" dirty="0">
                <a:solidFill>
                  <a:srgbClr val="2B3445"/>
                </a:solidFill>
              </a:rPr>
              <a:t>provide routes, stops and destinations.</a:t>
            </a:r>
            <a:endParaRPr lang="en-US" sz="1050" dirty="0"/>
          </a:p>
        </p:txBody>
      </p:sp>
      <p:sp>
        <p:nvSpPr>
          <p:cNvPr id="15" name="Shape 12"/>
          <p:cNvSpPr/>
          <p:nvPr/>
        </p:nvSpPr>
        <p:spPr>
          <a:xfrm>
            <a:off x="457200" y="2560320"/>
            <a:ext cx="8229600" cy="640080"/>
          </a:xfrm>
          <a:prstGeom prst="roundRect">
            <a:avLst>
              <a:gd name="adj" fmla="val 8571"/>
            </a:avLst>
          </a:prstGeom>
          <a:solidFill>
            <a:srgbClr val="FFFFFF"/>
          </a:solidFill>
          <a:ln w="9525">
            <a:solidFill>
              <a:srgbClr val="DDE4EC"/>
            </a:solidFill>
            <a:prstDash val="solid"/>
          </a:ln>
        </p:spPr>
      </p:sp>
      <p:sp>
        <p:nvSpPr>
          <p:cNvPr id="16" name="Shape 13"/>
          <p:cNvSpPr/>
          <p:nvPr/>
        </p:nvSpPr>
        <p:spPr>
          <a:xfrm>
            <a:off x="594360" y="2724912"/>
            <a:ext cx="310896" cy="310896"/>
          </a:xfrm>
          <a:prstGeom prst="ellipse">
            <a:avLst/>
          </a:prstGeom>
          <a:solidFill>
            <a:srgbClr val="0B5C80"/>
          </a:solidFill>
          <a:ln w="12700">
            <a:solidFill>
              <a:srgbClr val="0B5C80"/>
            </a:solidFill>
            <a:prstDash val="solid"/>
          </a:ln>
        </p:spPr>
      </p:sp>
      <p:sp>
        <p:nvSpPr>
          <p:cNvPr id="17" name="Text 14"/>
          <p:cNvSpPr txBox="1"/>
          <p:nvPr/>
        </p:nvSpPr>
        <p:spPr>
          <a:xfrm>
            <a:off x="59436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5"/>
          <p:cNvSpPr txBox="1"/>
          <p:nvPr/>
        </p:nvSpPr>
        <p:spPr>
          <a:xfrm>
            <a:off x="1051560" y="256032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Estimated Arrival Time:  </a:t>
            </a:r>
            <a:pPr indent="0" marL="0">
              <a:buNone/>
            </a:pPr>
            <a:r>
              <a:rPr lang="en-US" sz="1050" dirty="0">
                <a:solidFill>
                  <a:srgbClr val="2B3445"/>
                </a:solidFill>
              </a:rPr>
              <a:t>show expected arrival at selected stops.</a:t>
            </a:r>
            <a:endParaRPr lang="en-US" sz="1050" dirty="0"/>
          </a:p>
        </p:txBody>
      </p:sp>
      <p:sp>
        <p:nvSpPr>
          <p:cNvPr id="19" name="Shape 16"/>
          <p:cNvSpPr/>
          <p:nvPr/>
        </p:nvSpPr>
        <p:spPr>
          <a:xfrm>
            <a:off x="457200" y="3291840"/>
            <a:ext cx="8229600" cy="640080"/>
          </a:xfrm>
          <a:prstGeom prst="roundRect">
            <a:avLst>
              <a:gd name="adj" fmla="val 8571"/>
            </a:avLst>
          </a:prstGeom>
          <a:solidFill>
            <a:srgbClr val="FFFFFF"/>
          </a:solidFill>
          <a:ln w="9525">
            <a:solidFill>
              <a:srgbClr val="DDE4EC"/>
            </a:solidFill>
            <a:prstDash val="solid"/>
          </a:ln>
        </p:spPr>
      </p:sp>
      <p:sp>
        <p:nvSpPr>
          <p:cNvPr id="20" name="Shape 17"/>
          <p:cNvSpPr/>
          <p:nvPr/>
        </p:nvSpPr>
        <p:spPr>
          <a:xfrm>
            <a:off x="594360" y="3456432"/>
            <a:ext cx="310896" cy="310896"/>
          </a:xfrm>
          <a:prstGeom prst="ellipse">
            <a:avLst/>
          </a:prstGeom>
          <a:solidFill>
            <a:srgbClr val="0B5C80"/>
          </a:solidFill>
          <a:ln w="12700">
            <a:solidFill>
              <a:srgbClr val="0B5C80"/>
            </a:solidFill>
            <a:prstDash val="solid"/>
          </a:ln>
        </p:spPr>
      </p:sp>
      <p:sp>
        <p:nvSpPr>
          <p:cNvPr id="21" name="Text 18"/>
          <p:cNvSpPr txBox="1"/>
          <p:nvPr/>
        </p:nvSpPr>
        <p:spPr>
          <a:xfrm>
            <a:off x="594360" y="3456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2" name="Text 19"/>
          <p:cNvSpPr txBox="1"/>
          <p:nvPr/>
        </p:nvSpPr>
        <p:spPr>
          <a:xfrm>
            <a:off x="1051560" y="329184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Database Management:  </a:t>
            </a:r>
            <a:pPr indent="0" marL="0">
              <a:buNone/>
            </a:pPr>
            <a:r>
              <a:rPr lang="en-US" sz="1050" dirty="0">
                <a:solidFill>
                  <a:srgbClr val="2B3445"/>
                </a:solidFill>
              </a:rPr>
              <a:t>store users, vehicles, routes, stops, schedules and locations.</a:t>
            </a:r>
            <a:endParaRPr lang="en-US" sz="1050" dirty="0"/>
          </a:p>
        </p:txBody>
      </p:sp>
      <p:sp>
        <p:nvSpPr>
          <p:cNvPr id="23" name="Shape 20"/>
          <p:cNvSpPr/>
          <p:nvPr/>
        </p:nvSpPr>
        <p:spPr>
          <a:xfrm>
            <a:off x="457200" y="4023360"/>
            <a:ext cx="8229600" cy="640080"/>
          </a:xfrm>
          <a:prstGeom prst="roundRect">
            <a:avLst>
              <a:gd name="adj" fmla="val 8571"/>
            </a:avLst>
          </a:prstGeom>
          <a:solidFill>
            <a:srgbClr val="FFFFFF"/>
          </a:solidFill>
          <a:ln w="9525">
            <a:solidFill>
              <a:srgbClr val="DDE4EC"/>
            </a:solidFill>
            <a:prstDash val="solid"/>
          </a:ln>
        </p:spPr>
      </p:sp>
      <p:sp>
        <p:nvSpPr>
          <p:cNvPr id="24" name="Shape 21"/>
          <p:cNvSpPr/>
          <p:nvPr/>
        </p:nvSpPr>
        <p:spPr>
          <a:xfrm>
            <a:off x="594360" y="4187952"/>
            <a:ext cx="310896" cy="310896"/>
          </a:xfrm>
          <a:prstGeom prst="ellipse">
            <a:avLst/>
          </a:prstGeom>
          <a:solidFill>
            <a:srgbClr val="0B5C80"/>
          </a:solidFill>
          <a:ln w="12700">
            <a:solidFill>
              <a:srgbClr val="0B5C80"/>
            </a:solidFill>
            <a:prstDash val="solid"/>
          </a:ln>
        </p:spPr>
      </p:sp>
      <p:sp>
        <p:nvSpPr>
          <p:cNvPr id="25" name="Text 22"/>
          <p:cNvSpPr txBox="1"/>
          <p:nvPr/>
        </p:nvSpPr>
        <p:spPr>
          <a:xfrm>
            <a:off x="594360" y="41879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6" name="Text 23"/>
          <p:cNvSpPr txBox="1"/>
          <p:nvPr/>
        </p:nvSpPr>
        <p:spPr>
          <a:xfrm>
            <a:off x="1051560" y="402336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Interface &amp; Notifications:  </a:t>
            </a:r>
            <a:pPr indent="0" marL="0">
              <a:buNone/>
            </a:pPr>
            <a:r>
              <a:rPr lang="en-US" sz="1050" dirty="0">
                <a:solidFill>
                  <a:srgbClr val="2B3445"/>
                </a:solidFill>
              </a:rPr>
              <a:t>easy-to-use web UI with status updates.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10</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System Models</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9</a:t>
            </a:r>
            <a:endParaRPr lang="en-US" sz="900" dirty="0"/>
          </a:p>
        </p:txBody>
      </p:sp>
      <p:sp>
        <p:nvSpPr>
          <p:cNvPr id="7" name="Shape 4"/>
          <p:cNvSpPr/>
          <p:nvPr/>
        </p:nvSpPr>
        <p:spPr>
          <a:xfrm>
            <a:off x="457200" y="1097280"/>
            <a:ext cx="8229600" cy="431074"/>
          </a:xfrm>
          <a:prstGeom prst="roundRect">
            <a:avLst>
              <a:gd name="adj" fmla="val 12727"/>
            </a:avLst>
          </a:prstGeom>
          <a:solidFill>
            <a:srgbClr val="FFFFFF"/>
          </a:solidFill>
          <a:ln w="9525">
            <a:solidFill>
              <a:srgbClr val="DDE4EC"/>
            </a:solidFill>
            <a:prstDash val="solid"/>
          </a:ln>
        </p:spPr>
      </p:sp>
      <p:sp>
        <p:nvSpPr>
          <p:cNvPr id="8" name="Shape 5"/>
          <p:cNvSpPr/>
          <p:nvPr/>
        </p:nvSpPr>
        <p:spPr>
          <a:xfrm>
            <a:off x="594360" y="1157369"/>
            <a:ext cx="310896" cy="310896"/>
          </a:xfrm>
          <a:prstGeom prst="ellipse">
            <a:avLst/>
          </a:prstGeom>
          <a:solidFill>
            <a:srgbClr val="0B5C80"/>
          </a:solidFill>
          <a:ln w="12700">
            <a:solidFill>
              <a:srgbClr val="0B5C80"/>
            </a:solidFill>
            <a:prstDash val="solid"/>
          </a:ln>
        </p:spPr>
      </p:sp>
      <p:sp>
        <p:nvSpPr>
          <p:cNvPr id="9" name="Text 6"/>
          <p:cNvSpPr txBox="1"/>
          <p:nvPr/>
        </p:nvSpPr>
        <p:spPr>
          <a:xfrm>
            <a:off x="594360" y="1157369"/>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Text 7"/>
          <p:cNvSpPr txBox="1"/>
          <p:nvPr/>
        </p:nvSpPr>
        <p:spPr>
          <a:xfrm>
            <a:off x="1051560" y="1097280"/>
            <a:ext cx="7498080" cy="431074"/>
          </a:xfrm>
          <a:prstGeom prst="rect">
            <a:avLst/>
          </a:prstGeom>
          <a:noFill/>
          <a:ln/>
        </p:spPr>
        <p:txBody>
          <a:bodyPr wrap="square" lIns="0" tIns="0" rIns="0" bIns="0" rtlCol="0" anchor="ctr"/>
          <a:lstStyle/>
          <a:p>
            <a:pPr indent="0" marL="0">
              <a:buNone/>
            </a:pPr>
            <a:r>
              <a:rPr lang="en-US" sz="1050" b="1" dirty="0">
                <a:solidFill>
                  <a:srgbClr val="1E2A5E"/>
                </a:solidFill>
              </a:rPr>
              <a:t>Use Case Diagram –  </a:t>
            </a:r>
            <a:pPr indent="0" marL="0">
              <a:buNone/>
            </a:pPr>
            <a:r>
              <a:rPr lang="en-US" sz="1050" dirty="0">
                <a:solidFill>
                  <a:srgbClr val="2B3445"/>
                </a:solidFill>
              </a:rPr>
              <a:t>interactions between passengers, admin and the system.</a:t>
            </a:r>
            <a:endParaRPr lang="en-US" sz="1050" dirty="0"/>
          </a:p>
        </p:txBody>
      </p:sp>
      <p:sp>
        <p:nvSpPr>
          <p:cNvPr id="11" name="Shape 8"/>
          <p:cNvSpPr/>
          <p:nvPr/>
        </p:nvSpPr>
        <p:spPr>
          <a:xfrm>
            <a:off x="457200" y="1619794"/>
            <a:ext cx="8229600" cy="431074"/>
          </a:xfrm>
          <a:prstGeom prst="roundRect">
            <a:avLst>
              <a:gd name="adj" fmla="val 12727"/>
            </a:avLst>
          </a:prstGeom>
          <a:solidFill>
            <a:srgbClr val="FFFFFF"/>
          </a:solidFill>
          <a:ln w="9525">
            <a:solidFill>
              <a:srgbClr val="DDE4EC"/>
            </a:solidFill>
            <a:prstDash val="solid"/>
          </a:ln>
        </p:spPr>
      </p:sp>
      <p:sp>
        <p:nvSpPr>
          <p:cNvPr id="12" name="Shape 9"/>
          <p:cNvSpPr/>
          <p:nvPr/>
        </p:nvSpPr>
        <p:spPr>
          <a:xfrm>
            <a:off x="594360" y="1679883"/>
            <a:ext cx="310896" cy="310896"/>
          </a:xfrm>
          <a:prstGeom prst="ellipse">
            <a:avLst/>
          </a:prstGeom>
          <a:solidFill>
            <a:srgbClr val="0B5C80"/>
          </a:solidFill>
          <a:ln w="12700">
            <a:solidFill>
              <a:srgbClr val="0B5C80"/>
            </a:solidFill>
            <a:prstDash val="solid"/>
          </a:ln>
        </p:spPr>
      </p:sp>
      <p:sp>
        <p:nvSpPr>
          <p:cNvPr id="13" name="Text 10"/>
          <p:cNvSpPr txBox="1"/>
          <p:nvPr/>
        </p:nvSpPr>
        <p:spPr>
          <a:xfrm>
            <a:off x="594360" y="1679883"/>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1"/>
          <p:cNvSpPr txBox="1"/>
          <p:nvPr/>
        </p:nvSpPr>
        <p:spPr>
          <a:xfrm>
            <a:off x="1051560" y="1619794"/>
            <a:ext cx="7498080" cy="431074"/>
          </a:xfrm>
          <a:prstGeom prst="rect">
            <a:avLst/>
          </a:prstGeom>
          <a:noFill/>
          <a:ln/>
        </p:spPr>
        <p:txBody>
          <a:bodyPr wrap="square" lIns="0" tIns="0" rIns="0" bIns="0" rtlCol="0" anchor="ctr"/>
          <a:lstStyle/>
          <a:p>
            <a:pPr indent="0" marL="0">
              <a:buNone/>
            </a:pPr>
            <a:r>
              <a:rPr lang="en-US" sz="1050" b="1" dirty="0">
                <a:solidFill>
                  <a:srgbClr val="1E2A5E"/>
                </a:solidFill>
              </a:rPr>
              <a:t>Data Flow Diagram –  </a:t>
            </a:r>
            <a:pPr indent="0" marL="0">
              <a:buNone/>
            </a:pPr>
            <a:r>
              <a:rPr lang="en-US" sz="1050" dirty="0">
                <a:solidFill>
                  <a:srgbClr val="2B3445"/>
                </a:solidFill>
              </a:rPr>
              <a:t>how data flows through the system.</a:t>
            </a:r>
            <a:endParaRPr lang="en-US" sz="1050" dirty="0"/>
          </a:p>
        </p:txBody>
      </p:sp>
      <p:sp>
        <p:nvSpPr>
          <p:cNvPr id="15" name="Shape 12"/>
          <p:cNvSpPr/>
          <p:nvPr/>
        </p:nvSpPr>
        <p:spPr>
          <a:xfrm>
            <a:off x="457200" y="2142309"/>
            <a:ext cx="8229600" cy="431074"/>
          </a:xfrm>
          <a:prstGeom prst="roundRect">
            <a:avLst>
              <a:gd name="adj" fmla="val 12727"/>
            </a:avLst>
          </a:prstGeom>
          <a:solidFill>
            <a:srgbClr val="FFFFFF"/>
          </a:solidFill>
          <a:ln w="9525">
            <a:solidFill>
              <a:srgbClr val="DDE4EC"/>
            </a:solidFill>
            <a:prstDash val="solid"/>
          </a:ln>
        </p:spPr>
      </p:sp>
      <p:sp>
        <p:nvSpPr>
          <p:cNvPr id="16" name="Shape 13"/>
          <p:cNvSpPr/>
          <p:nvPr/>
        </p:nvSpPr>
        <p:spPr>
          <a:xfrm>
            <a:off x="594360" y="2202398"/>
            <a:ext cx="310896" cy="310896"/>
          </a:xfrm>
          <a:prstGeom prst="ellipse">
            <a:avLst/>
          </a:prstGeom>
          <a:solidFill>
            <a:srgbClr val="0B5C80"/>
          </a:solidFill>
          <a:ln w="12700">
            <a:solidFill>
              <a:srgbClr val="0B5C80"/>
            </a:solidFill>
            <a:prstDash val="solid"/>
          </a:ln>
        </p:spPr>
      </p:sp>
      <p:sp>
        <p:nvSpPr>
          <p:cNvPr id="17" name="Text 14"/>
          <p:cNvSpPr txBox="1"/>
          <p:nvPr/>
        </p:nvSpPr>
        <p:spPr>
          <a:xfrm>
            <a:off x="594360" y="220239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5"/>
          <p:cNvSpPr txBox="1"/>
          <p:nvPr/>
        </p:nvSpPr>
        <p:spPr>
          <a:xfrm>
            <a:off x="1051560" y="2142309"/>
            <a:ext cx="7498080" cy="431074"/>
          </a:xfrm>
          <a:prstGeom prst="rect">
            <a:avLst/>
          </a:prstGeom>
          <a:noFill/>
          <a:ln/>
        </p:spPr>
        <p:txBody>
          <a:bodyPr wrap="square" lIns="0" tIns="0" rIns="0" bIns="0" rtlCol="0" anchor="ctr"/>
          <a:lstStyle/>
          <a:p>
            <a:pPr indent="0" marL="0">
              <a:buNone/>
            </a:pPr>
            <a:r>
              <a:rPr lang="en-US" sz="1050" b="1" dirty="0">
                <a:solidFill>
                  <a:srgbClr val="1E2A5E"/>
                </a:solidFill>
              </a:rPr>
              <a:t>ER Diagram –  </a:t>
            </a:r>
            <a:pPr indent="0" marL="0">
              <a:buNone/>
            </a:pPr>
            <a:r>
              <a:rPr lang="en-US" sz="1050" dirty="0">
                <a:solidFill>
                  <a:srgbClr val="2B3445"/>
                </a:solidFill>
              </a:rPr>
              <a:t>users, vehicles, routes, stops and schedules.</a:t>
            </a:r>
            <a:endParaRPr lang="en-US" sz="1050" dirty="0"/>
          </a:p>
        </p:txBody>
      </p:sp>
      <p:sp>
        <p:nvSpPr>
          <p:cNvPr id="19" name="Shape 16"/>
          <p:cNvSpPr/>
          <p:nvPr/>
        </p:nvSpPr>
        <p:spPr>
          <a:xfrm>
            <a:off x="457200" y="2664823"/>
            <a:ext cx="8229600" cy="431074"/>
          </a:xfrm>
          <a:prstGeom prst="roundRect">
            <a:avLst>
              <a:gd name="adj" fmla="val 12727"/>
            </a:avLst>
          </a:prstGeom>
          <a:solidFill>
            <a:srgbClr val="FFFFFF"/>
          </a:solidFill>
          <a:ln w="9525">
            <a:solidFill>
              <a:srgbClr val="DDE4EC"/>
            </a:solidFill>
            <a:prstDash val="solid"/>
          </a:ln>
        </p:spPr>
      </p:sp>
      <p:sp>
        <p:nvSpPr>
          <p:cNvPr id="20" name="Shape 17"/>
          <p:cNvSpPr/>
          <p:nvPr/>
        </p:nvSpPr>
        <p:spPr>
          <a:xfrm>
            <a:off x="594360" y="2724912"/>
            <a:ext cx="310896" cy="310896"/>
          </a:xfrm>
          <a:prstGeom prst="ellipse">
            <a:avLst/>
          </a:prstGeom>
          <a:solidFill>
            <a:srgbClr val="0B5C80"/>
          </a:solidFill>
          <a:ln w="12700">
            <a:solidFill>
              <a:srgbClr val="0B5C80"/>
            </a:solidFill>
            <a:prstDash val="solid"/>
          </a:ln>
        </p:spPr>
      </p:sp>
      <p:sp>
        <p:nvSpPr>
          <p:cNvPr id="21" name="Text 18"/>
          <p:cNvSpPr txBox="1"/>
          <p:nvPr/>
        </p:nvSpPr>
        <p:spPr>
          <a:xfrm>
            <a:off x="59436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2" name="Text 19"/>
          <p:cNvSpPr txBox="1"/>
          <p:nvPr/>
        </p:nvSpPr>
        <p:spPr>
          <a:xfrm>
            <a:off x="1051560" y="2664823"/>
            <a:ext cx="7498080" cy="431074"/>
          </a:xfrm>
          <a:prstGeom prst="rect">
            <a:avLst/>
          </a:prstGeom>
          <a:noFill/>
          <a:ln/>
        </p:spPr>
        <p:txBody>
          <a:bodyPr wrap="square" lIns="0" tIns="0" rIns="0" bIns="0" rtlCol="0" anchor="ctr"/>
          <a:lstStyle/>
          <a:p>
            <a:pPr indent="0" marL="0">
              <a:buNone/>
            </a:pPr>
            <a:r>
              <a:rPr lang="en-US" sz="1050" b="1" dirty="0">
                <a:solidFill>
                  <a:srgbClr val="1E2A5E"/>
                </a:solidFill>
              </a:rPr>
              <a:t>Class Diagram –  </a:t>
            </a:r>
            <a:pPr indent="0" marL="0">
              <a:buNone/>
            </a:pPr>
            <a:r>
              <a:rPr lang="en-US" sz="1050" dirty="0">
                <a:solidFill>
                  <a:srgbClr val="2B3445"/>
                </a:solidFill>
              </a:rPr>
              <a:t>classes, attributes and functions.</a:t>
            </a:r>
            <a:endParaRPr lang="en-US" sz="1050" dirty="0"/>
          </a:p>
        </p:txBody>
      </p:sp>
      <p:sp>
        <p:nvSpPr>
          <p:cNvPr id="23" name="Shape 20"/>
          <p:cNvSpPr/>
          <p:nvPr/>
        </p:nvSpPr>
        <p:spPr>
          <a:xfrm>
            <a:off x="457200" y="3187337"/>
            <a:ext cx="8229600" cy="431074"/>
          </a:xfrm>
          <a:prstGeom prst="roundRect">
            <a:avLst>
              <a:gd name="adj" fmla="val 12727"/>
            </a:avLst>
          </a:prstGeom>
          <a:solidFill>
            <a:srgbClr val="FFFFFF"/>
          </a:solidFill>
          <a:ln w="9525">
            <a:solidFill>
              <a:srgbClr val="DDE4EC"/>
            </a:solidFill>
            <a:prstDash val="solid"/>
          </a:ln>
        </p:spPr>
      </p:sp>
      <p:sp>
        <p:nvSpPr>
          <p:cNvPr id="24" name="Shape 21"/>
          <p:cNvSpPr/>
          <p:nvPr/>
        </p:nvSpPr>
        <p:spPr>
          <a:xfrm>
            <a:off x="594360" y="3247426"/>
            <a:ext cx="310896" cy="310896"/>
          </a:xfrm>
          <a:prstGeom prst="ellipse">
            <a:avLst/>
          </a:prstGeom>
          <a:solidFill>
            <a:srgbClr val="0B5C80"/>
          </a:solidFill>
          <a:ln w="12700">
            <a:solidFill>
              <a:srgbClr val="0B5C80"/>
            </a:solidFill>
            <a:prstDash val="solid"/>
          </a:ln>
        </p:spPr>
      </p:sp>
      <p:sp>
        <p:nvSpPr>
          <p:cNvPr id="25" name="Text 22"/>
          <p:cNvSpPr txBox="1"/>
          <p:nvPr/>
        </p:nvSpPr>
        <p:spPr>
          <a:xfrm>
            <a:off x="594360" y="324742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6" name="Text 23"/>
          <p:cNvSpPr txBox="1"/>
          <p:nvPr/>
        </p:nvSpPr>
        <p:spPr>
          <a:xfrm>
            <a:off x="1051560" y="3187337"/>
            <a:ext cx="7498080" cy="431074"/>
          </a:xfrm>
          <a:prstGeom prst="rect">
            <a:avLst/>
          </a:prstGeom>
          <a:noFill/>
          <a:ln/>
        </p:spPr>
        <p:txBody>
          <a:bodyPr wrap="square" lIns="0" tIns="0" rIns="0" bIns="0" rtlCol="0" anchor="ctr"/>
          <a:lstStyle/>
          <a:p>
            <a:pPr indent="0" marL="0">
              <a:buNone/>
            </a:pPr>
            <a:r>
              <a:rPr lang="en-US" sz="1050" b="1" dirty="0">
                <a:solidFill>
                  <a:srgbClr val="1E2A5E"/>
                </a:solidFill>
              </a:rPr>
              <a:t>Sequence Diagram –  </a:t>
            </a:r>
            <a:pPr indent="0" marL="0">
              <a:buNone/>
            </a:pPr>
            <a:r>
              <a:rPr lang="en-US" sz="1050" dirty="0">
                <a:solidFill>
                  <a:srgbClr val="2B3445"/>
                </a:solidFill>
              </a:rPr>
              <a:t>actions between users and the system.</a:t>
            </a:r>
            <a:endParaRPr lang="en-US" sz="1050" dirty="0"/>
          </a:p>
        </p:txBody>
      </p:sp>
      <p:sp>
        <p:nvSpPr>
          <p:cNvPr id="27" name="Shape 24"/>
          <p:cNvSpPr/>
          <p:nvPr/>
        </p:nvSpPr>
        <p:spPr>
          <a:xfrm>
            <a:off x="457200" y="3709851"/>
            <a:ext cx="8229600" cy="431074"/>
          </a:xfrm>
          <a:prstGeom prst="roundRect">
            <a:avLst>
              <a:gd name="adj" fmla="val 12727"/>
            </a:avLst>
          </a:prstGeom>
          <a:solidFill>
            <a:srgbClr val="FFFFFF"/>
          </a:solidFill>
          <a:ln w="9525">
            <a:solidFill>
              <a:srgbClr val="DDE4EC"/>
            </a:solidFill>
            <a:prstDash val="solid"/>
          </a:ln>
        </p:spPr>
      </p:sp>
      <p:sp>
        <p:nvSpPr>
          <p:cNvPr id="28" name="Shape 25"/>
          <p:cNvSpPr/>
          <p:nvPr/>
        </p:nvSpPr>
        <p:spPr>
          <a:xfrm>
            <a:off x="594360" y="3769941"/>
            <a:ext cx="310896" cy="310896"/>
          </a:xfrm>
          <a:prstGeom prst="ellipse">
            <a:avLst/>
          </a:prstGeom>
          <a:solidFill>
            <a:srgbClr val="0B5C80"/>
          </a:solidFill>
          <a:ln w="12700">
            <a:solidFill>
              <a:srgbClr val="0B5C80"/>
            </a:solidFill>
            <a:prstDash val="solid"/>
          </a:ln>
        </p:spPr>
      </p:sp>
      <p:sp>
        <p:nvSpPr>
          <p:cNvPr id="29" name="Text 26"/>
          <p:cNvSpPr txBox="1"/>
          <p:nvPr/>
        </p:nvSpPr>
        <p:spPr>
          <a:xfrm>
            <a:off x="594360" y="3769941"/>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0" name="Text 27"/>
          <p:cNvSpPr txBox="1"/>
          <p:nvPr/>
        </p:nvSpPr>
        <p:spPr>
          <a:xfrm>
            <a:off x="1051560" y="3709851"/>
            <a:ext cx="7498080" cy="431074"/>
          </a:xfrm>
          <a:prstGeom prst="rect">
            <a:avLst/>
          </a:prstGeom>
          <a:noFill/>
          <a:ln/>
        </p:spPr>
        <p:txBody>
          <a:bodyPr wrap="square" lIns="0" tIns="0" rIns="0" bIns="0" rtlCol="0" anchor="ctr"/>
          <a:lstStyle/>
          <a:p>
            <a:pPr indent="0" marL="0">
              <a:buNone/>
            </a:pPr>
            <a:r>
              <a:rPr lang="en-US" sz="1050" b="1" dirty="0">
                <a:solidFill>
                  <a:srgbClr val="1E2A5E"/>
                </a:solidFill>
              </a:rPr>
              <a:t>Activity Diagram –  </a:t>
            </a:r>
            <a:pPr indent="0" marL="0">
              <a:buNone/>
            </a:pPr>
            <a:r>
              <a:rPr lang="en-US" sz="1050" dirty="0">
                <a:solidFill>
                  <a:srgbClr val="2B3445"/>
                </a:solidFill>
              </a:rPr>
              <a:t>workflow of bus tracking and route search.</a:t>
            </a:r>
            <a:endParaRPr lang="en-US" sz="1050" dirty="0"/>
          </a:p>
        </p:txBody>
      </p:sp>
      <p:sp>
        <p:nvSpPr>
          <p:cNvPr id="31" name="Shape 28"/>
          <p:cNvSpPr/>
          <p:nvPr/>
        </p:nvSpPr>
        <p:spPr>
          <a:xfrm>
            <a:off x="457200" y="4232366"/>
            <a:ext cx="8229600" cy="431074"/>
          </a:xfrm>
          <a:prstGeom prst="roundRect">
            <a:avLst>
              <a:gd name="adj" fmla="val 12727"/>
            </a:avLst>
          </a:prstGeom>
          <a:solidFill>
            <a:srgbClr val="FFFFFF"/>
          </a:solidFill>
          <a:ln w="9525">
            <a:solidFill>
              <a:srgbClr val="DDE4EC"/>
            </a:solidFill>
            <a:prstDash val="solid"/>
          </a:ln>
        </p:spPr>
      </p:sp>
      <p:sp>
        <p:nvSpPr>
          <p:cNvPr id="32" name="Shape 29"/>
          <p:cNvSpPr/>
          <p:nvPr/>
        </p:nvSpPr>
        <p:spPr>
          <a:xfrm>
            <a:off x="594360" y="4292455"/>
            <a:ext cx="310896" cy="310896"/>
          </a:xfrm>
          <a:prstGeom prst="ellipse">
            <a:avLst/>
          </a:prstGeom>
          <a:solidFill>
            <a:srgbClr val="0B5C80"/>
          </a:solidFill>
          <a:ln w="12700">
            <a:solidFill>
              <a:srgbClr val="0B5C80"/>
            </a:solidFill>
            <a:prstDash val="solid"/>
          </a:ln>
        </p:spPr>
      </p:sp>
      <p:sp>
        <p:nvSpPr>
          <p:cNvPr id="33" name="Text 30"/>
          <p:cNvSpPr txBox="1"/>
          <p:nvPr/>
        </p:nvSpPr>
        <p:spPr>
          <a:xfrm>
            <a:off x="594360" y="4292455"/>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34" name="Text 31"/>
          <p:cNvSpPr txBox="1"/>
          <p:nvPr/>
        </p:nvSpPr>
        <p:spPr>
          <a:xfrm>
            <a:off x="1051560" y="4232366"/>
            <a:ext cx="7498080" cy="431074"/>
          </a:xfrm>
          <a:prstGeom prst="rect">
            <a:avLst/>
          </a:prstGeom>
          <a:noFill/>
          <a:ln/>
        </p:spPr>
        <p:txBody>
          <a:bodyPr wrap="square" lIns="0" tIns="0" rIns="0" bIns="0" rtlCol="0" anchor="ctr"/>
          <a:lstStyle/>
          <a:p>
            <a:pPr indent="0" marL="0">
              <a:buNone/>
            </a:pPr>
            <a:r>
              <a:rPr lang="en-US" sz="1050" b="1" dirty="0">
                <a:solidFill>
                  <a:srgbClr val="1E2A5E"/>
                </a:solidFill>
              </a:rPr>
              <a:t>Component Diagram –  </a:t>
            </a:r>
            <a:pPr indent="0" marL="0">
              <a:buNone/>
            </a:pPr>
            <a:r>
              <a:rPr lang="en-US" sz="1050" dirty="0">
                <a:solidFill>
                  <a:srgbClr val="2B3445"/>
                </a:solidFill>
              </a:rPr>
              <a:t>frontend, backend, API, database and GPS.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11</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Proposed Methodology</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10</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An agile, modular approach from requirements to a working tracker:</a:t>
            </a:r>
            <a:endParaRPr lang="en-US" sz="1100" dirty="0"/>
          </a:p>
        </p:txBody>
      </p:sp>
      <p:sp>
        <p:nvSpPr>
          <p:cNvPr id="8" name="Shape 5"/>
          <p:cNvSpPr/>
          <p:nvPr/>
        </p:nvSpPr>
        <p:spPr>
          <a:xfrm>
            <a:off x="457200" y="1554480"/>
            <a:ext cx="1508760" cy="731520"/>
          </a:xfrm>
          <a:prstGeom prst="roundRect">
            <a:avLst>
              <a:gd name="adj" fmla="val 7500"/>
            </a:avLst>
          </a:prstGeom>
          <a:solidFill>
            <a:srgbClr val="0B5C80"/>
          </a:solidFill>
          <a:ln w="12700">
            <a:solidFill>
              <a:srgbClr val="0B5C80"/>
            </a:solidFill>
            <a:prstDash val="solid"/>
          </a:ln>
        </p:spPr>
      </p:sp>
      <p:sp>
        <p:nvSpPr>
          <p:cNvPr id="9" name="Text 6"/>
          <p:cNvSpPr txBox="1"/>
          <p:nvPr/>
        </p:nvSpPr>
        <p:spPr>
          <a:xfrm>
            <a:off x="457200" y="1554480"/>
            <a:ext cx="1508760" cy="73152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10" name="Text 7"/>
          <p:cNvSpPr txBox="1"/>
          <p:nvPr/>
        </p:nvSpPr>
        <p:spPr>
          <a:xfrm>
            <a:off x="457200" y="2423160"/>
            <a:ext cx="1508760" cy="365760"/>
          </a:xfrm>
          <a:prstGeom prst="rect">
            <a:avLst/>
          </a:prstGeom>
          <a:noFill/>
          <a:ln/>
        </p:spPr>
        <p:txBody>
          <a:bodyPr wrap="square" lIns="0" tIns="0" rIns="0" bIns="0" rtlCol="0" anchor="ctr"/>
          <a:lstStyle/>
          <a:p>
            <a:pPr algn="ctr" indent="0" marL="0">
              <a:buNone/>
            </a:pPr>
            <a:r>
              <a:rPr lang="en-US" sz="1100" b="1" dirty="0">
                <a:solidFill>
                  <a:srgbClr val="1E2A5E"/>
                </a:solidFill>
              </a:rPr>
              <a:t>Requirement Analysis</a:t>
            </a:r>
            <a:endParaRPr lang="en-US" sz="1100" dirty="0"/>
          </a:p>
        </p:txBody>
      </p:sp>
      <p:sp>
        <p:nvSpPr>
          <p:cNvPr id="11" name="Text 8"/>
          <p:cNvSpPr txBox="1"/>
          <p:nvPr/>
        </p:nvSpPr>
        <p:spPr>
          <a:xfrm>
            <a:off x="457200" y="2834640"/>
            <a:ext cx="1508760" cy="914400"/>
          </a:xfrm>
          <a:prstGeom prst="rect">
            <a:avLst/>
          </a:prstGeom>
          <a:noFill/>
          <a:ln/>
        </p:spPr>
        <p:txBody>
          <a:bodyPr wrap="square" lIns="0" tIns="0" rIns="0" bIns="0" rtlCol="0" anchor="t"/>
          <a:lstStyle/>
          <a:p>
            <a:pPr algn="ctr" indent="0" marL="0">
              <a:buNone/>
            </a:pPr>
            <a:r>
              <a:rPr lang="en-US" sz="950" dirty="0">
                <a:solidFill>
                  <a:srgbClr val="2B3445"/>
                </a:solidFill>
              </a:rPr>
              <a:t>Define passenger and admin needs.</a:t>
            </a:r>
            <a:endParaRPr lang="en-US" sz="950" dirty="0"/>
          </a:p>
        </p:txBody>
      </p:sp>
      <p:sp>
        <p:nvSpPr>
          <p:cNvPr id="12" name="Shape 9"/>
          <p:cNvSpPr/>
          <p:nvPr/>
        </p:nvSpPr>
        <p:spPr>
          <a:xfrm>
            <a:off x="2121408" y="1554480"/>
            <a:ext cx="1508760" cy="731520"/>
          </a:xfrm>
          <a:prstGeom prst="roundRect">
            <a:avLst>
              <a:gd name="adj" fmla="val 7500"/>
            </a:avLst>
          </a:prstGeom>
          <a:solidFill>
            <a:srgbClr val="1F7A9C"/>
          </a:solidFill>
          <a:ln w="12700">
            <a:solidFill>
              <a:srgbClr val="0B5C80"/>
            </a:solidFill>
            <a:prstDash val="solid"/>
          </a:ln>
        </p:spPr>
      </p:sp>
      <p:sp>
        <p:nvSpPr>
          <p:cNvPr id="13" name="Text 10"/>
          <p:cNvSpPr txBox="1"/>
          <p:nvPr/>
        </p:nvSpPr>
        <p:spPr>
          <a:xfrm>
            <a:off x="2121408" y="1554480"/>
            <a:ext cx="1508760" cy="73152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Text 11"/>
          <p:cNvSpPr txBox="1"/>
          <p:nvPr/>
        </p:nvSpPr>
        <p:spPr>
          <a:xfrm>
            <a:off x="2121408" y="2423160"/>
            <a:ext cx="1508760" cy="365760"/>
          </a:xfrm>
          <a:prstGeom prst="rect">
            <a:avLst/>
          </a:prstGeom>
          <a:noFill/>
          <a:ln/>
        </p:spPr>
        <p:txBody>
          <a:bodyPr wrap="square" lIns="0" tIns="0" rIns="0" bIns="0" rtlCol="0" anchor="ctr"/>
          <a:lstStyle/>
          <a:p>
            <a:pPr algn="ctr" indent="0" marL="0">
              <a:buNone/>
            </a:pPr>
            <a:r>
              <a:rPr lang="en-US" sz="1100" b="1" dirty="0">
                <a:solidFill>
                  <a:srgbClr val="1E2A5E"/>
                </a:solidFill>
              </a:rPr>
              <a:t>Database Design</a:t>
            </a:r>
            <a:endParaRPr lang="en-US" sz="1100" dirty="0"/>
          </a:p>
        </p:txBody>
      </p:sp>
      <p:sp>
        <p:nvSpPr>
          <p:cNvPr id="15" name="Text 12"/>
          <p:cNvSpPr txBox="1"/>
          <p:nvPr/>
        </p:nvSpPr>
        <p:spPr>
          <a:xfrm>
            <a:off x="2121408" y="2834640"/>
            <a:ext cx="1508760" cy="914400"/>
          </a:xfrm>
          <a:prstGeom prst="rect">
            <a:avLst/>
          </a:prstGeom>
          <a:noFill/>
          <a:ln/>
        </p:spPr>
        <p:txBody>
          <a:bodyPr wrap="square" lIns="0" tIns="0" rIns="0" bIns="0" rtlCol="0" anchor="t"/>
          <a:lstStyle/>
          <a:p>
            <a:pPr algn="ctr" indent="0" marL="0">
              <a:buNone/>
            </a:pPr>
            <a:r>
              <a:rPr lang="en-US" sz="950" dirty="0">
                <a:solidFill>
                  <a:srgbClr val="2B3445"/>
                </a:solidFill>
              </a:rPr>
              <a:t>Model users, vehicles, routes, stops, locations.</a:t>
            </a:r>
            <a:endParaRPr lang="en-US" sz="950" dirty="0"/>
          </a:p>
        </p:txBody>
      </p:sp>
      <p:sp>
        <p:nvSpPr>
          <p:cNvPr id="16" name="Shape 13"/>
          <p:cNvSpPr/>
          <p:nvPr/>
        </p:nvSpPr>
        <p:spPr>
          <a:xfrm>
            <a:off x="3785616" y="1554480"/>
            <a:ext cx="1508760" cy="731520"/>
          </a:xfrm>
          <a:prstGeom prst="roundRect">
            <a:avLst>
              <a:gd name="adj" fmla="val 7500"/>
            </a:avLst>
          </a:prstGeom>
          <a:solidFill>
            <a:srgbClr val="0B5C80"/>
          </a:solidFill>
          <a:ln w="12700">
            <a:solidFill>
              <a:srgbClr val="0B5C80"/>
            </a:solidFill>
            <a:prstDash val="solid"/>
          </a:ln>
        </p:spPr>
      </p:sp>
      <p:sp>
        <p:nvSpPr>
          <p:cNvPr id="17" name="Text 14"/>
          <p:cNvSpPr txBox="1"/>
          <p:nvPr/>
        </p:nvSpPr>
        <p:spPr>
          <a:xfrm>
            <a:off x="3785616" y="1554480"/>
            <a:ext cx="1508760" cy="73152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8" name="Text 15"/>
          <p:cNvSpPr txBox="1"/>
          <p:nvPr/>
        </p:nvSpPr>
        <p:spPr>
          <a:xfrm>
            <a:off x="3785616" y="2423160"/>
            <a:ext cx="1508760" cy="365760"/>
          </a:xfrm>
          <a:prstGeom prst="rect">
            <a:avLst/>
          </a:prstGeom>
          <a:noFill/>
          <a:ln/>
        </p:spPr>
        <p:txBody>
          <a:bodyPr wrap="square" lIns="0" tIns="0" rIns="0" bIns="0" rtlCol="0" anchor="ctr"/>
          <a:lstStyle/>
          <a:p>
            <a:pPr algn="ctr" indent="0" marL="0">
              <a:buNone/>
            </a:pPr>
            <a:r>
              <a:rPr lang="en-US" sz="1100" b="1" dirty="0">
                <a:solidFill>
                  <a:srgbClr val="1E2A5E"/>
                </a:solidFill>
              </a:rPr>
              <a:t>Backend &amp; API</a:t>
            </a:r>
            <a:endParaRPr lang="en-US" sz="1100" dirty="0"/>
          </a:p>
        </p:txBody>
      </p:sp>
      <p:sp>
        <p:nvSpPr>
          <p:cNvPr id="19" name="Text 16"/>
          <p:cNvSpPr txBox="1"/>
          <p:nvPr/>
        </p:nvSpPr>
        <p:spPr>
          <a:xfrm>
            <a:off x="3785616" y="2834640"/>
            <a:ext cx="1508760" cy="914400"/>
          </a:xfrm>
          <a:prstGeom prst="rect">
            <a:avLst/>
          </a:prstGeom>
          <a:noFill/>
          <a:ln/>
        </p:spPr>
        <p:txBody>
          <a:bodyPr wrap="square" lIns="0" tIns="0" rIns="0" bIns="0" rtlCol="0" anchor="t"/>
          <a:lstStyle/>
          <a:p>
            <a:pPr algn="ctr" indent="0" marL="0">
              <a:buNone/>
            </a:pPr>
            <a:r>
              <a:rPr lang="en-US" sz="950" dirty="0">
                <a:solidFill>
                  <a:srgbClr val="2B3445"/>
                </a:solidFill>
              </a:rPr>
              <a:t>Build REST APIs and location processing.</a:t>
            </a:r>
            <a:endParaRPr lang="en-US" sz="950" dirty="0"/>
          </a:p>
        </p:txBody>
      </p:sp>
      <p:sp>
        <p:nvSpPr>
          <p:cNvPr id="20" name="Shape 17"/>
          <p:cNvSpPr/>
          <p:nvPr/>
        </p:nvSpPr>
        <p:spPr>
          <a:xfrm>
            <a:off x="5449824" y="1554480"/>
            <a:ext cx="1508760" cy="731520"/>
          </a:xfrm>
          <a:prstGeom prst="roundRect">
            <a:avLst>
              <a:gd name="adj" fmla="val 7500"/>
            </a:avLst>
          </a:prstGeom>
          <a:solidFill>
            <a:srgbClr val="1F7A9C"/>
          </a:solidFill>
          <a:ln w="12700">
            <a:solidFill>
              <a:srgbClr val="0B5C80"/>
            </a:solidFill>
            <a:prstDash val="solid"/>
          </a:ln>
        </p:spPr>
      </p:sp>
      <p:sp>
        <p:nvSpPr>
          <p:cNvPr id="21" name="Text 18"/>
          <p:cNvSpPr txBox="1"/>
          <p:nvPr/>
        </p:nvSpPr>
        <p:spPr>
          <a:xfrm>
            <a:off x="5449824" y="1554480"/>
            <a:ext cx="1508760" cy="73152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2" name="Text 19"/>
          <p:cNvSpPr txBox="1"/>
          <p:nvPr/>
        </p:nvSpPr>
        <p:spPr>
          <a:xfrm>
            <a:off x="5449824" y="2423160"/>
            <a:ext cx="1508760" cy="365760"/>
          </a:xfrm>
          <a:prstGeom prst="rect">
            <a:avLst/>
          </a:prstGeom>
          <a:noFill/>
          <a:ln/>
        </p:spPr>
        <p:txBody>
          <a:bodyPr wrap="square" lIns="0" tIns="0" rIns="0" bIns="0" rtlCol="0" anchor="ctr"/>
          <a:lstStyle/>
          <a:p>
            <a:pPr algn="ctr" indent="0" marL="0">
              <a:buNone/>
            </a:pPr>
            <a:r>
              <a:rPr lang="en-US" sz="1100" b="1" dirty="0">
                <a:solidFill>
                  <a:srgbClr val="1E2A5E"/>
                </a:solidFill>
              </a:rPr>
              <a:t>Frontend Integration</a:t>
            </a:r>
            <a:endParaRPr lang="en-US" sz="1100" dirty="0"/>
          </a:p>
        </p:txBody>
      </p:sp>
      <p:sp>
        <p:nvSpPr>
          <p:cNvPr id="23" name="Text 20"/>
          <p:cNvSpPr txBox="1"/>
          <p:nvPr/>
        </p:nvSpPr>
        <p:spPr>
          <a:xfrm>
            <a:off x="5449824" y="2834640"/>
            <a:ext cx="1508760" cy="914400"/>
          </a:xfrm>
          <a:prstGeom prst="rect">
            <a:avLst/>
          </a:prstGeom>
          <a:noFill/>
          <a:ln/>
        </p:spPr>
        <p:txBody>
          <a:bodyPr wrap="square" lIns="0" tIns="0" rIns="0" bIns="0" rtlCol="0" anchor="t"/>
          <a:lstStyle/>
          <a:p>
            <a:pPr algn="ctr" indent="0" marL="0">
              <a:buNone/>
            </a:pPr>
            <a:r>
              <a:rPr lang="en-US" sz="950" dirty="0">
                <a:solidFill>
                  <a:srgbClr val="2B3445"/>
                </a:solidFill>
              </a:rPr>
              <a:t>Connect dashboard to APIs.</a:t>
            </a:r>
            <a:endParaRPr lang="en-US" sz="950" dirty="0"/>
          </a:p>
        </p:txBody>
      </p:sp>
      <p:sp>
        <p:nvSpPr>
          <p:cNvPr id="24" name="Shape 21"/>
          <p:cNvSpPr/>
          <p:nvPr/>
        </p:nvSpPr>
        <p:spPr>
          <a:xfrm>
            <a:off x="7114032" y="1554480"/>
            <a:ext cx="1508760" cy="731520"/>
          </a:xfrm>
          <a:prstGeom prst="roundRect">
            <a:avLst>
              <a:gd name="adj" fmla="val 7500"/>
            </a:avLst>
          </a:prstGeom>
          <a:solidFill>
            <a:srgbClr val="0B5C80"/>
          </a:solidFill>
          <a:ln w="12700">
            <a:solidFill>
              <a:srgbClr val="0B5C80"/>
            </a:solidFill>
            <a:prstDash val="solid"/>
          </a:ln>
        </p:spPr>
      </p:sp>
      <p:sp>
        <p:nvSpPr>
          <p:cNvPr id="25" name="Text 22"/>
          <p:cNvSpPr txBox="1"/>
          <p:nvPr/>
        </p:nvSpPr>
        <p:spPr>
          <a:xfrm>
            <a:off x="7114032" y="1554480"/>
            <a:ext cx="1508760" cy="73152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6" name="Text 23"/>
          <p:cNvSpPr txBox="1"/>
          <p:nvPr/>
        </p:nvSpPr>
        <p:spPr>
          <a:xfrm>
            <a:off x="7114032" y="2423160"/>
            <a:ext cx="1508760" cy="365760"/>
          </a:xfrm>
          <a:prstGeom prst="rect">
            <a:avLst/>
          </a:prstGeom>
          <a:noFill/>
          <a:ln/>
        </p:spPr>
        <p:txBody>
          <a:bodyPr wrap="square" lIns="0" tIns="0" rIns="0" bIns="0" rtlCol="0" anchor="ctr"/>
          <a:lstStyle/>
          <a:p>
            <a:pPr algn="ctr" indent="0" marL="0">
              <a:buNone/>
            </a:pPr>
            <a:r>
              <a:rPr lang="en-US" sz="1100" b="1" dirty="0">
                <a:solidFill>
                  <a:srgbClr val="1E2A5E"/>
                </a:solidFill>
              </a:rPr>
              <a:t>Testing &amp; Validation</a:t>
            </a:r>
            <a:endParaRPr lang="en-US" sz="1100" dirty="0"/>
          </a:p>
        </p:txBody>
      </p:sp>
      <p:sp>
        <p:nvSpPr>
          <p:cNvPr id="27" name="Text 24"/>
          <p:cNvSpPr txBox="1"/>
          <p:nvPr/>
        </p:nvSpPr>
        <p:spPr>
          <a:xfrm>
            <a:off x="7114032" y="2834640"/>
            <a:ext cx="1508760" cy="914400"/>
          </a:xfrm>
          <a:prstGeom prst="rect">
            <a:avLst/>
          </a:prstGeom>
          <a:noFill/>
          <a:ln/>
        </p:spPr>
        <p:txBody>
          <a:bodyPr wrap="square" lIns="0" tIns="0" rIns="0" bIns="0" rtlCol="0" anchor="t"/>
          <a:lstStyle/>
          <a:p>
            <a:pPr algn="ctr" indent="0" marL="0">
              <a:buNone/>
            </a:pPr>
            <a:r>
              <a:rPr lang="en-US" sz="950" dirty="0">
                <a:solidFill>
                  <a:srgbClr val="2B3445"/>
                </a:solidFill>
              </a:rPr>
              <a:t>Verify tracking, ETA and data.</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12</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System Architecture</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11</a:t>
            </a:r>
            <a:endParaRPr lang="en-US" sz="900" dirty="0"/>
          </a:p>
        </p:txBody>
      </p:sp>
      <p:sp>
        <p:nvSpPr>
          <p:cNvPr id="7" name="Shape 4"/>
          <p:cNvSpPr/>
          <p:nvPr/>
        </p:nvSpPr>
        <p:spPr>
          <a:xfrm>
            <a:off x="457200" y="1280160"/>
            <a:ext cx="1828800" cy="1188720"/>
          </a:xfrm>
          <a:prstGeom prst="roundRect">
            <a:avLst>
              <a:gd name="adj" fmla="val 6154"/>
            </a:avLst>
          </a:prstGeom>
          <a:solidFill>
            <a:srgbClr val="1E2A5E"/>
          </a:solidFill>
          <a:ln w="12700">
            <a:solidFill>
              <a:srgbClr val="1E2A5E"/>
            </a:solidFill>
            <a:prstDash val="solid"/>
          </a:ln>
        </p:spPr>
      </p:sp>
      <p:sp>
        <p:nvSpPr>
          <p:cNvPr id="8" name="Text 5"/>
          <p:cNvSpPr txBox="1"/>
          <p:nvPr/>
        </p:nvSpPr>
        <p:spPr>
          <a:xfrm>
            <a:off x="548640" y="1325880"/>
            <a:ext cx="1645920" cy="1097280"/>
          </a:xfrm>
          <a:prstGeom prst="rect">
            <a:avLst/>
          </a:prstGeom>
          <a:noFill/>
          <a:ln/>
        </p:spPr>
        <p:txBody>
          <a:bodyPr wrap="square" lIns="0" tIns="0" rIns="0" bIns="0" rtlCol="0" anchor="ctr"/>
          <a:lstStyle/>
          <a:p>
            <a:pPr algn="ctr" indent="0" marL="0">
              <a:buNone/>
            </a:pPr>
            <a:r>
              <a:rPr lang="en-US" sz="1200" b="1" dirty="0">
                <a:solidFill>
                  <a:srgbClr val="FFFFFF"/>
                </a:solidFill>
              </a:rPr>
              <a:t>Passenger / Admin</a:t>
            </a:r>
            <a:endParaRPr lang="en-US" sz="1200" dirty="0"/>
          </a:p>
          <a:p>
            <a:pPr algn="ctr" indent="0" marL="0">
              <a:buNone/>
            </a:pPr>
            <a:r>
              <a:rPr lang="en-US" sz="950" dirty="0">
                <a:solidFill>
                  <a:srgbClr val="FFFFFF"/>
                </a:solidFill>
              </a:rPr>
              <a:t>Web users</a:t>
            </a:r>
            <a:endParaRPr lang="en-US" sz="1200" dirty="0"/>
          </a:p>
        </p:txBody>
      </p:sp>
      <p:sp>
        <p:nvSpPr>
          <p:cNvPr id="9" name="Text 6"/>
          <p:cNvSpPr txBox="1"/>
          <p:nvPr/>
        </p:nvSpPr>
        <p:spPr>
          <a:xfrm>
            <a:off x="2286000" y="1645920"/>
            <a:ext cx="274320" cy="365760"/>
          </a:xfrm>
          <a:prstGeom prst="rect">
            <a:avLst/>
          </a:prstGeom>
          <a:noFill/>
          <a:ln/>
        </p:spPr>
        <p:txBody>
          <a:bodyPr wrap="square" lIns="0" tIns="0" rIns="0" bIns="0" rtlCol="0" anchor="ctr"/>
          <a:lstStyle/>
          <a:p>
            <a:pPr algn="ctr" indent="0" marL="0">
              <a:buNone/>
            </a:pPr>
            <a:r>
              <a:rPr lang="en-US" sz="1800" b="1" dirty="0">
                <a:solidFill>
                  <a:srgbClr val="E8A33D"/>
                </a:solidFill>
              </a:rPr>
              <a:t>→</a:t>
            </a:r>
            <a:endParaRPr lang="en-US" sz="1800" dirty="0"/>
          </a:p>
        </p:txBody>
      </p:sp>
      <p:sp>
        <p:nvSpPr>
          <p:cNvPr id="10" name="Shape 7"/>
          <p:cNvSpPr/>
          <p:nvPr/>
        </p:nvSpPr>
        <p:spPr>
          <a:xfrm>
            <a:off x="2560320" y="1280160"/>
            <a:ext cx="1828800" cy="1188720"/>
          </a:xfrm>
          <a:prstGeom prst="roundRect">
            <a:avLst>
              <a:gd name="adj" fmla="val 6154"/>
            </a:avLst>
          </a:prstGeom>
          <a:solidFill>
            <a:srgbClr val="0B5C80"/>
          </a:solidFill>
          <a:ln w="12700">
            <a:solidFill>
              <a:srgbClr val="0B5C80"/>
            </a:solidFill>
            <a:prstDash val="solid"/>
          </a:ln>
        </p:spPr>
      </p:sp>
      <p:sp>
        <p:nvSpPr>
          <p:cNvPr id="11" name="Text 8"/>
          <p:cNvSpPr txBox="1"/>
          <p:nvPr/>
        </p:nvSpPr>
        <p:spPr>
          <a:xfrm>
            <a:off x="2651760" y="1325880"/>
            <a:ext cx="1645920" cy="1097280"/>
          </a:xfrm>
          <a:prstGeom prst="rect">
            <a:avLst/>
          </a:prstGeom>
          <a:noFill/>
          <a:ln/>
        </p:spPr>
        <p:txBody>
          <a:bodyPr wrap="square" lIns="0" tIns="0" rIns="0" bIns="0" rtlCol="0" anchor="ctr"/>
          <a:lstStyle/>
          <a:p>
            <a:pPr algn="ctr" indent="0" marL="0">
              <a:buNone/>
            </a:pPr>
            <a:r>
              <a:rPr lang="en-US" sz="1200" b="1" dirty="0">
                <a:solidFill>
                  <a:srgbClr val="FFFFFF"/>
                </a:solidFill>
              </a:rPr>
              <a:t>Front-End</a:t>
            </a:r>
            <a:endParaRPr lang="en-US" sz="1200" dirty="0"/>
          </a:p>
          <a:p>
            <a:pPr algn="ctr" indent="0" marL="0">
              <a:buNone/>
            </a:pPr>
            <a:r>
              <a:rPr lang="en-US" sz="950" dirty="0">
                <a:solidFill>
                  <a:srgbClr val="FFFFFF"/>
                </a:solidFill>
              </a:rPr>
              <a:t>HTML · CSS · JavaScript</a:t>
            </a:r>
            <a:endParaRPr lang="en-US" sz="1200" dirty="0"/>
          </a:p>
        </p:txBody>
      </p:sp>
      <p:sp>
        <p:nvSpPr>
          <p:cNvPr id="12" name="Text 9"/>
          <p:cNvSpPr txBox="1"/>
          <p:nvPr/>
        </p:nvSpPr>
        <p:spPr>
          <a:xfrm>
            <a:off x="4389120" y="1645920"/>
            <a:ext cx="274320" cy="365760"/>
          </a:xfrm>
          <a:prstGeom prst="rect">
            <a:avLst/>
          </a:prstGeom>
          <a:noFill/>
          <a:ln/>
        </p:spPr>
        <p:txBody>
          <a:bodyPr wrap="square" lIns="0" tIns="0" rIns="0" bIns="0" rtlCol="0" anchor="ctr"/>
          <a:lstStyle/>
          <a:p>
            <a:pPr algn="ctr" indent="0" marL="0">
              <a:buNone/>
            </a:pPr>
            <a:r>
              <a:rPr lang="en-US" sz="1800" b="1" dirty="0">
                <a:solidFill>
                  <a:srgbClr val="E8A33D"/>
                </a:solidFill>
              </a:rPr>
              <a:t>→</a:t>
            </a:r>
            <a:endParaRPr lang="en-US" sz="1800" dirty="0"/>
          </a:p>
        </p:txBody>
      </p:sp>
      <p:sp>
        <p:nvSpPr>
          <p:cNvPr id="13" name="Shape 10"/>
          <p:cNvSpPr/>
          <p:nvPr/>
        </p:nvSpPr>
        <p:spPr>
          <a:xfrm>
            <a:off x="4663440" y="1280160"/>
            <a:ext cx="1828800" cy="1188720"/>
          </a:xfrm>
          <a:prstGeom prst="roundRect">
            <a:avLst>
              <a:gd name="adj" fmla="val 6154"/>
            </a:avLst>
          </a:prstGeom>
          <a:solidFill>
            <a:srgbClr val="1F7A9C"/>
          </a:solidFill>
          <a:ln w="12700">
            <a:solidFill>
              <a:srgbClr val="1F7A9C"/>
            </a:solidFill>
            <a:prstDash val="solid"/>
          </a:ln>
        </p:spPr>
      </p:sp>
      <p:sp>
        <p:nvSpPr>
          <p:cNvPr id="14" name="Text 11"/>
          <p:cNvSpPr txBox="1"/>
          <p:nvPr/>
        </p:nvSpPr>
        <p:spPr>
          <a:xfrm>
            <a:off x="4754880" y="1325880"/>
            <a:ext cx="1645920" cy="1097280"/>
          </a:xfrm>
          <a:prstGeom prst="rect">
            <a:avLst/>
          </a:prstGeom>
          <a:noFill/>
          <a:ln/>
        </p:spPr>
        <p:txBody>
          <a:bodyPr wrap="square" lIns="0" tIns="0" rIns="0" bIns="0" rtlCol="0" anchor="ctr"/>
          <a:lstStyle/>
          <a:p>
            <a:pPr algn="ctr" indent="0" marL="0">
              <a:buNone/>
            </a:pPr>
            <a:r>
              <a:rPr lang="en-US" sz="1200" b="1" dirty="0">
                <a:solidFill>
                  <a:srgbClr val="FFFFFF"/>
                </a:solidFill>
              </a:rPr>
              <a:t>Backend Service</a:t>
            </a:r>
            <a:endParaRPr lang="en-US" sz="1200" dirty="0"/>
          </a:p>
          <a:p>
            <a:pPr algn="ctr" indent="0" marL="0">
              <a:buNone/>
            </a:pPr>
            <a:r>
              <a:rPr lang="en-US" sz="950" dirty="0">
                <a:solidFill>
                  <a:srgbClr val="FFFFFF"/>
                </a:solidFill>
              </a:rPr>
              <a:t>REST API + Real-Time Processing</a:t>
            </a:r>
            <a:endParaRPr lang="en-US" sz="1200" dirty="0"/>
          </a:p>
        </p:txBody>
      </p:sp>
      <p:sp>
        <p:nvSpPr>
          <p:cNvPr id="15" name="Text 12"/>
          <p:cNvSpPr txBox="1"/>
          <p:nvPr/>
        </p:nvSpPr>
        <p:spPr>
          <a:xfrm>
            <a:off x="6492240" y="1645920"/>
            <a:ext cx="274320" cy="365760"/>
          </a:xfrm>
          <a:prstGeom prst="rect">
            <a:avLst/>
          </a:prstGeom>
          <a:noFill/>
          <a:ln/>
        </p:spPr>
        <p:txBody>
          <a:bodyPr wrap="square" lIns="0" tIns="0" rIns="0" bIns="0" rtlCol="0" anchor="ctr"/>
          <a:lstStyle/>
          <a:p>
            <a:pPr algn="ctr" indent="0" marL="0">
              <a:buNone/>
            </a:pPr>
            <a:r>
              <a:rPr lang="en-US" sz="1800" b="1" dirty="0">
                <a:solidFill>
                  <a:srgbClr val="E8A33D"/>
                </a:solidFill>
              </a:rPr>
              <a:t>→</a:t>
            </a:r>
            <a:endParaRPr lang="en-US" sz="1800" dirty="0"/>
          </a:p>
        </p:txBody>
      </p:sp>
      <p:sp>
        <p:nvSpPr>
          <p:cNvPr id="16" name="Shape 13"/>
          <p:cNvSpPr/>
          <p:nvPr/>
        </p:nvSpPr>
        <p:spPr>
          <a:xfrm>
            <a:off x="6766560" y="1280160"/>
            <a:ext cx="1828800" cy="1188720"/>
          </a:xfrm>
          <a:prstGeom prst="roundRect">
            <a:avLst>
              <a:gd name="adj" fmla="val 6154"/>
            </a:avLst>
          </a:prstGeom>
          <a:solidFill>
            <a:srgbClr val="1E2A5E"/>
          </a:solidFill>
          <a:ln w="12700">
            <a:solidFill>
              <a:srgbClr val="1E2A5E"/>
            </a:solidFill>
            <a:prstDash val="solid"/>
          </a:ln>
        </p:spPr>
      </p:sp>
      <p:sp>
        <p:nvSpPr>
          <p:cNvPr id="17" name="Text 14"/>
          <p:cNvSpPr txBox="1"/>
          <p:nvPr/>
        </p:nvSpPr>
        <p:spPr>
          <a:xfrm>
            <a:off x="6858000" y="1325880"/>
            <a:ext cx="1645920" cy="1097280"/>
          </a:xfrm>
          <a:prstGeom prst="rect">
            <a:avLst/>
          </a:prstGeom>
          <a:noFill/>
          <a:ln/>
        </p:spPr>
        <p:txBody>
          <a:bodyPr wrap="square" lIns="0" tIns="0" rIns="0" bIns="0" rtlCol="0" anchor="ctr"/>
          <a:lstStyle/>
          <a:p>
            <a:pPr algn="ctr" indent="0" marL="0">
              <a:buNone/>
            </a:pPr>
            <a:r>
              <a:rPr lang="en-US" sz="1200" b="1" dirty="0">
                <a:solidFill>
                  <a:srgbClr val="FFFFFF"/>
                </a:solidFill>
              </a:rPr>
              <a:t>Database</a:t>
            </a:r>
            <a:endParaRPr lang="en-US" sz="1200" dirty="0"/>
          </a:p>
          <a:p>
            <a:pPr algn="ctr" indent="0" marL="0">
              <a:buNone/>
            </a:pPr>
            <a:r>
              <a:rPr lang="en-US" sz="950" dirty="0">
                <a:solidFill>
                  <a:srgbClr val="FFFFFF"/>
                </a:solidFill>
              </a:rPr>
              <a:t>Users · Vehicles · Routes · Stops · Schedules · Locations</a:t>
            </a:r>
            <a:endParaRPr lang="en-US" sz="1200" dirty="0"/>
          </a:p>
        </p:txBody>
      </p:sp>
      <p:sp>
        <p:nvSpPr>
          <p:cNvPr id="18" name="Shape 15"/>
          <p:cNvSpPr/>
          <p:nvPr/>
        </p:nvSpPr>
        <p:spPr>
          <a:xfrm>
            <a:off x="4389120" y="2926080"/>
            <a:ext cx="1828800" cy="731520"/>
          </a:xfrm>
          <a:prstGeom prst="roundRect">
            <a:avLst>
              <a:gd name="adj" fmla="val 10000"/>
            </a:avLst>
          </a:prstGeom>
          <a:solidFill>
            <a:srgbClr val="FFFFFF"/>
          </a:solidFill>
          <a:ln w="19050">
            <a:solidFill>
              <a:srgbClr val="E8A33D"/>
            </a:solidFill>
            <a:prstDash val="solid"/>
          </a:ln>
        </p:spPr>
      </p:sp>
      <p:sp>
        <p:nvSpPr>
          <p:cNvPr id="19" name="Text 16"/>
          <p:cNvSpPr txBox="1"/>
          <p:nvPr/>
        </p:nvSpPr>
        <p:spPr>
          <a:xfrm>
            <a:off x="4389120" y="2926080"/>
            <a:ext cx="1828800" cy="731520"/>
          </a:xfrm>
          <a:prstGeom prst="rect">
            <a:avLst/>
          </a:prstGeom>
          <a:noFill/>
          <a:ln/>
        </p:spPr>
        <p:txBody>
          <a:bodyPr wrap="square" lIns="0" tIns="0" rIns="0" bIns="0" rtlCol="0" anchor="ctr"/>
          <a:lstStyle/>
          <a:p>
            <a:pPr algn="ctr" indent="0" marL="0">
              <a:buNone/>
            </a:pPr>
            <a:r>
              <a:rPr lang="en-US" sz="1100" b="1" dirty="0">
                <a:solidFill>
                  <a:srgbClr val="1E2A5E"/>
                </a:solidFill>
              </a:rPr>
              <a:t>GPS / Vehicle</a:t>
            </a:r>
            <a:endParaRPr lang="en-US" sz="1100" dirty="0"/>
          </a:p>
          <a:p>
            <a:pPr algn="ctr" indent="0" marL="0">
              <a:buNone/>
            </a:pPr>
            <a:r>
              <a:rPr lang="en-US" sz="950" dirty="0">
                <a:solidFill>
                  <a:srgbClr val="2B3445"/>
                </a:solidFill>
              </a:rPr>
              <a:t>Location updates</a:t>
            </a:r>
            <a:endParaRPr lang="en-US" sz="1100" dirty="0"/>
          </a:p>
        </p:txBody>
      </p:sp>
      <p:sp>
        <p:nvSpPr>
          <p:cNvPr id="20" name="Text 17"/>
          <p:cNvSpPr txBox="1"/>
          <p:nvPr/>
        </p:nvSpPr>
        <p:spPr>
          <a:xfrm>
            <a:off x="5120640" y="2514600"/>
            <a:ext cx="365760" cy="365760"/>
          </a:xfrm>
          <a:prstGeom prst="rect">
            <a:avLst/>
          </a:prstGeom>
          <a:noFill/>
          <a:ln/>
        </p:spPr>
        <p:txBody>
          <a:bodyPr wrap="square" lIns="0" tIns="0" rIns="0" bIns="0" rtlCol="0" anchor="ctr"/>
          <a:lstStyle/>
          <a:p>
            <a:pPr algn="ctr" indent="0" marL="0">
              <a:buNone/>
            </a:pPr>
            <a:r>
              <a:rPr lang="en-US" sz="1800" b="1" dirty="0">
                <a:solidFill>
                  <a:srgbClr val="E8A33D"/>
                </a:solidFill>
              </a:rPr>
              <a:t>↑</a:t>
            </a:r>
            <a:endParaRPr lang="en-US" sz="1800" dirty="0"/>
          </a:p>
        </p:txBody>
      </p:sp>
      <p:sp>
        <p:nvSpPr>
          <p:cNvPr id="21" name="Text 18"/>
          <p:cNvSpPr txBox="1"/>
          <p:nvPr/>
        </p:nvSpPr>
        <p:spPr>
          <a:xfrm>
            <a:off x="457200" y="3977640"/>
            <a:ext cx="8229600" cy="411480"/>
          </a:xfrm>
          <a:prstGeom prst="rect">
            <a:avLst/>
          </a:prstGeom>
          <a:noFill/>
          <a:ln/>
        </p:spPr>
        <p:txBody>
          <a:bodyPr wrap="square" lIns="0" tIns="0" rIns="0" bIns="0" rtlCol="0" anchor="ctr"/>
          <a:lstStyle/>
          <a:p>
            <a:pPr indent="0" marL="0">
              <a:buNone/>
            </a:pPr>
            <a:r>
              <a:rPr lang="en-US" sz="1050" i="1" dirty="0">
                <a:solidFill>
                  <a:srgbClr val="55627A"/>
                </a:solidFill>
              </a:rPr>
              <a:t>Vehicles send GPS updates to the backend, which stores them and serves live data to the front-end through REST APIs.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13</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Technologies Used</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12</a:t>
            </a:r>
            <a:endParaRPr lang="en-US" sz="900" dirty="0"/>
          </a:p>
        </p:txBody>
      </p:sp>
      <p:sp>
        <p:nvSpPr>
          <p:cNvPr id="7" name="Shape 4"/>
          <p:cNvSpPr/>
          <p:nvPr/>
        </p:nvSpPr>
        <p:spPr>
          <a:xfrm>
            <a:off x="457200" y="1097280"/>
            <a:ext cx="2651760" cy="1371600"/>
          </a:xfrm>
          <a:prstGeom prst="roundRect">
            <a:avLst>
              <a:gd name="adj" fmla="val 5333"/>
            </a:avLst>
          </a:prstGeom>
          <a:solidFill>
            <a:srgbClr val="FFFFFF"/>
          </a:solidFill>
          <a:ln w="9525">
            <a:solidFill>
              <a:srgbClr val="DDE4EC"/>
            </a:solidFill>
            <a:prstDash val="solid"/>
          </a:ln>
        </p:spPr>
      </p:sp>
      <p:sp>
        <p:nvSpPr>
          <p:cNvPr id="8" name="Shape 5"/>
          <p:cNvSpPr/>
          <p:nvPr/>
        </p:nvSpPr>
        <p:spPr>
          <a:xfrm>
            <a:off x="457200" y="1188720"/>
            <a:ext cx="54864" cy="1188720"/>
          </a:xfrm>
          <a:prstGeom prst="rect">
            <a:avLst/>
          </a:prstGeom>
          <a:solidFill>
            <a:srgbClr val="E8A33D"/>
          </a:solidFill>
          <a:ln w="12700">
            <a:solidFill>
              <a:srgbClr val="E8A33D"/>
            </a:solidFill>
            <a:prstDash val="solid"/>
          </a:ln>
        </p:spPr>
      </p:sp>
      <p:sp>
        <p:nvSpPr>
          <p:cNvPr id="9" name="Text 6"/>
          <p:cNvSpPr txBox="1"/>
          <p:nvPr/>
        </p:nvSpPr>
        <p:spPr>
          <a:xfrm>
            <a:off x="64008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HTML</a:t>
            </a:r>
            <a:endParaRPr lang="en-US" sz="1200" dirty="0"/>
          </a:p>
        </p:txBody>
      </p:sp>
      <p:sp>
        <p:nvSpPr>
          <p:cNvPr id="10" name="Text 7"/>
          <p:cNvSpPr txBox="1"/>
          <p:nvPr/>
        </p:nvSpPr>
        <p:spPr>
          <a:xfrm>
            <a:off x="64008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Page structure of the web interface.</a:t>
            </a:r>
            <a:endParaRPr lang="en-US" sz="1000" dirty="0"/>
          </a:p>
        </p:txBody>
      </p:sp>
      <p:sp>
        <p:nvSpPr>
          <p:cNvPr id="11" name="Shape 8"/>
          <p:cNvSpPr/>
          <p:nvPr/>
        </p:nvSpPr>
        <p:spPr>
          <a:xfrm>
            <a:off x="3246120" y="1097280"/>
            <a:ext cx="2651760" cy="1371600"/>
          </a:xfrm>
          <a:prstGeom prst="roundRect">
            <a:avLst>
              <a:gd name="adj" fmla="val 5333"/>
            </a:avLst>
          </a:prstGeom>
          <a:solidFill>
            <a:srgbClr val="FFFFFF"/>
          </a:solidFill>
          <a:ln w="9525">
            <a:solidFill>
              <a:srgbClr val="DDE4EC"/>
            </a:solidFill>
            <a:prstDash val="solid"/>
          </a:ln>
        </p:spPr>
      </p:sp>
      <p:sp>
        <p:nvSpPr>
          <p:cNvPr id="12" name="Shape 9"/>
          <p:cNvSpPr/>
          <p:nvPr/>
        </p:nvSpPr>
        <p:spPr>
          <a:xfrm>
            <a:off x="3246120" y="1188720"/>
            <a:ext cx="54864" cy="1188720"/>
          </a:xfrm>
          <a:prstGeom prst="rect">
            <a:avLst/>
          </a:prstGeom>
          <a:solidFill>
            <a:srgbClr val="1F7A9C"/>
          </a:solidFill>
          <a:ln w="12700">
            <a:solidFill>
              <a:srgbClr val="1F7A9C"/>
            </a:solidFill>
            <a:prstDash val="solid"/>
          </a:ln>
        </p:spPr>
      </p:sp>
      <p:sp>
        <p:nvSpPr>
          <p:cNvPr id="13" name="Text 10"/>
          <p:cNvSpPr txBox="1"/>
          <p:nvPr/>
        </p:nvSpPr>
        <p:spPr>
          <a:xfrm>
            <a:off x="342900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CSS</a:t>
            </a:r>
            <a:endParaRPr lang="en-US" sz="1200" dirty="0"/>
          </a:p>
        </p:txBody>
      </p:sp>
      <p:sp>
        <p:nvSpPr>
          <p:cNvPr id="14" name="Text 11"/>
          <p:cNvSpPr txBox="1"/>
          <p:nvPr/>
        </p:nvSpPr>
        <p:spPr>
          <a:xfrm>
            <a:off x="342900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Responsive, user-friendly design.</a:t>
            </a:r>
            <a:endParaRPr lang="en-US" sz="1000" dirty="0"/>
          </a:p>
        </p:txBody>
      </p:sp>
      <p:sp>
        <p:nvSpPr>
          <p:cNvPr id="15" name="Shape 12"/>
          <p:cNvSpPr/>
          <p:nvPr/>
        </p:nvSpPr>
        <p:spPr>
          <a:xfrm>
            <a:off x="6035040" y="1097280"/>
            <a:ext cx="2651760" cy="1371600"/>
          </a:xfrm>
          <a:prstGeom prst="roundRect">
            <a:avLst>
              <a:gd name="adj" fmla="val 5333"/>
            </a:avLst>
          </a:prstGeom>
          <a:solidFill>
            <a:srgbClr val="FFFFFF"/>
          </a:solidFill>
          <a:ln w="9525">
            <a:solidFill>
              <a:srgbClr val="DDE4EC"/>
            </a:solidFill>
            <a:prstDash val="solid"/>
          </a:ln>
        </p:spPr>
      </p:sp>
      <p:sp>
        <p:nvSpPr>
          <p:cNvPr id="16" name="Shape 13"/>
          <p:cNvSpPr/>
          <p:nvPr/>
        </p:nvSpPr>
        <p:spPr>
          <a:xfrm>
            <a:off x="6035040" y="1188720"/>
            <a:ext cx="54864" cy="1188720"/>
          </a:xfrm>
          <a:prstGeom prst="rect">
            <a:avLst/>
          </a:prstGeom>
          <a:solidFill>
            <a:srgbClr val="E8A33D"/>
          </a:solidFill>
          <a:ln w="12700">
            <a:solidFill>
              <a:srgbClr val="E8A33D"/>
            </a:solidFill>
            <a:prstDash val="solid"/>
          </a:ln>
        </p:spPr>
      </p:sp>
      <p:sp>
        <p:nvSpPr>
          <p:cNvPr id="17" name="Text 14"/>
          <p:cNvSpPr txBox="1"/>
          <p:nvPr/>
        </p:nvSpPr>
        <p:spPr>
          <a:xfrm>
            <a:off x="621792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JavaScript</a:t>
            </a:r>
            <a:endParaRPr lang="en-US" sz="1200" dirty="0"/>
          </a:p>
        </p:txBody>
      </p:sp>
      <p:sp>
        <p:nvSpPr>
          <p:cNvPr id="18" name="Text 15"/>
          <p:cNvSpPr txBox="1"/>
          <p:nvPr/>
        </p:nvSpPr>
        <p:spPr>
          <a:xfrm>
            <a:off x="621792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Dynamic content and live updates.</a:t>
            </a:r>
            <a:endParaRPr lang="en-US" sz="1000" dirty="0"/>
          </a:p>
        </p:txBody>
      </p:sp>
      <p:sp>
        <p:nvSpPr>
          <p:cNvPr id="19" name="Shape 16"/>
          <p:cNvSpPr/>
          <p:nvPr/>
        </p:nvSpPr>
        <p:spPr>
          <a:xfrm>
            <a:off x="457200" y="2606040"/>
            <a:ext cx="2651760" cy="1371600"/>
          </a:xfrm>
          <a:prstGeom prst="roundRect">
            <a:avLst>
              <a:gd name="adj" fmla="val 5333"/>
            </a:avLst>
          </a:prstGeom>
          <a:solidFill>
            <a:srgbClr val="FFFFFF"/>
          </a:solidFill>
          <a:ln w="9525">
            <a:solidFill>
              <a:srgbClr val="DDE4EC"/>
            </a:solidFill>
            <a:prstDash val="solid"/>
          </a:ln>
        </p:spPr>
      </p:sp>
      <p:sp>
        <p:nvSpPr>
          <p:cNvPr id="20" name="Shape 17"/>
          <p:cNvSpPr/>
          <p:nvPr/>
        </p:nvSpPr>
        <p:spPr>
          <a:xfrm>
            <a:off x="457200" y="2697480"/>
            <a:ext cx="54864" cy="1188720"/>
          </a:xfrm>
          <a:prstGeom prst="rect">
            <a:avLst/>
          </a:prstGeom>
          <a:solidFill>
            <a:srgbClr val="1F7A9C"/>
          </a:solidFill>
          <a:ln w="12700">
            <a:solidFill>
              <a:srgbClr val="1F7A9C"/>
            </a:solidFill>
            <a:prstDash val="solid"/>
          </a:ln>
        </p:spPr>
      </p:sp>
      <p:sp>
        <p:nvSpPr>
          <p:cNvPr id="21" name="Text 18"/>
          <p:cNvSpPr txBox="1"/>
          <p:nvPr/>
        </p:nvSpPr>
        <p:spPr>
          <a:xfrm>
            <a:off x="64008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REST APIs</a:t>
            </a:r>
            <a:endParaRPr lang="en-US" sz="1200" dirty="0"/>
          </a:p>
        </p:txBody>
      </p:sp>
      <p:sp>
        <p:nvSpPr>
          <p:cNvPr id="22" name="Text 19"/>
          <p:cNvSpPr txBox="1"/>
          <p:nvPr/>
        </p:nvSpPr>
        <p:spPr>
          <a:xfrm>
            <a:off x="64008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Deliver backend data to the frontend.</a:t>
            </a:r>
            <a:endParaRPr lang="en-US" sz="1000" dirty="0"/>
          </a:p>
        </p:txBody>
      </p:sp>
      <p:sp>
        <p:nvSpPr>
          <p:cNvPr id="23" name="Shape 20"/>
          <p:cNvSpPr/>
          <p:nvPr/>
        </p:nvSpPr>
        <p:spPr>
          <a:xfrm>
            <a:off x="3246120" y="2606040"/>
            <a:ext cx="2651760" cy="1371600"/>
          </a:xfrm>
          <a:prstGeom prst="roundRect">
            <a:avLst>
              <a:gd name="adj" fmla="val 5333"/>
            </a:avLst>
          </a:prstGeom>
          <a:solidFill>
            <a:srgbClr val="FFFFFF"/>
          </a:solidFill>
          <a:ln w="9525">
            <a:solidFill>
              <a:srgbClr val="DDE4EC"/>
            </a:solidFill>
            <a:prstDash val="solid"/>
          </a:ln>
        </p:spPr>
      </p:sp>
      <p:sp>
        <p:nvSpPr>
          <p:cNvPr id="24" name="Shape 21"/>
          <p:cNvSpPr/>
          <p:nvPr/>
        </p:nvSpPr>
        <p:spPr>
          <a:xfrm>
            <a:off x="3246120" y="2697480"/>
            <a:ext cx="54864" cy="1188720"/>
          </a:xfrm>
          <a:prstGeom prst="rect">
            <a:avLst/>
          </a:prstGeom>
          <a:solidFill>
            <a:srgbClr val="E8A33D"/>
          </a:solidFill>
          <a:ln w="12700">
            <a:solidFill>
              <a:srgbClr val="E8A33D"/>
            </a:solidFill>
            <a:prstDash val="solid"/>
          </a:ln>
        </p:spPr>
      </p:sp>
      <p:sp>
        <p:nvSpPr>
          <p:cNvPr id="25" name="Text 22"/>
          <p:cNvSpPr txBox="1"/>
          <p:nvPr/>
        </p:nvSpPr>
        <p:spPr>
          <a:xfrm>
            <a:off x="342900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Backend Service</a:t>
            </a:r>
            <a:endParaRPr lang="en-US" sz="1200" dirty="0"/>
          </a:p>
        </p:txBody>
      </p:sp>
      <p:sp>
        <p:nvSpPr>
          <p:cNvPr id="26" name="Text 23"/>
          <p:cNvSpPr txBox="1"/>
          <p:nvPr/>
        </p:nvSpPr>
        <p:spPr>
          <a:xfrm>
            <a:off x="342900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Real-time location processing.</a:t>
            </a:r>
            <a:endParaRPr lang="en-US" sz="1000" dirty="0"/>
          </a:p>
        </p:txBody>
      </p:sp>
      <p:sp>
        <p:nvSpPr>
          <p:cNvPr id="27" name="Shape 24"/>
          <p:cNvSpPr/>
          <p:nvPr/>
        </p:nvSpPr>
        <p:spPr>
          <a:xfrm>
            <a:off x="6035040" y="2606040"/>
            <a:ext cx="2651760" cy="1371600"/>
          </a:xfrm>
          <a:prstGeom prst="roundRect">
            <a:avLst>
              <a:gd name="adj" fmla="val 5333"/>
            </a:avLst>
          </a:prstGeom>
          <a:solidFill>
            <a:srgbClr val="FFFFFF"/>
          </a:solidFill>
          <a:ln w="9525">
            <a:solidFill>
              <a:srgbClr val="DDE4EC"/>
            </a:solidFill>
            <a:prstDash val="solid"/>
          </a:ln>
        </p:spPr>
      </p:sp>
      <p:sp>
        <p:nvSpPr>
          <p:cNvPr id="28" name="Shape 25"/>
          <p:cNvSpPr/>
          <p:nvPr/>
        </p:nvSpPr>
        <p:spPr>
          <a:xfrm>
            <a:off x="6035040" y="2697480"/>
            <a:ext cx="54864" cy="1188720"/>
          </a:xfrm>
          <a:prstGeom prst="rect">
            <a:avLst/>
          </a:prstGeom>
          <a:solidFill>
            <a:srgbClr val="1F7A9C"/>
          </a:solidFill>
          <a:ln w="12700">
            <a:solidFill>
              <a:srgbClr val="1F7A9C"/>
            </a:solidFill>
            <a:prstDash val="solid"/>
          </a:ln>
        </p:spPr>
      </p:sp>
      <p:sp>
        <p:nvSpPr>
          <p:cNvPr id="29" name="Text 26"/>
          <p:cNvSpPr txBox="1"/>
          <p:nvPr/>
        </p:nvSpPr>
        <p:spPr>
          <a:xfrm>
            <a:off x="621792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Database</a:t>
            </a:r>
            <a:endParaRPr lang="en-US" sz="1200" dirty="0"/>
          </a:p>
        </p:txBody>
      </p:sp>
      <p:sp>
        <p:nvSpPr>
          <p:cNvPr id="30" name="Text 27"/>
          <p:cNvSpPr txBox="1"/>
          <p:nvPr/>
        </p:nvSpPr>
        <p:spPr>
          <a:xfrm>
            <a:off x="621792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Stores users, vehicles, routes, stops, schedules, locations.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14</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Database Design</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13</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1463040"/>
                <a:gridCol w="3200400"/>
                <a:gridCol w="2194560"/>
              </a:tblGrid>
              <a:tr h="365760">
                <a:tc>
                  <a:txBody>
                    <a:bodyPr/>
                    <a:lstStyle/>
                    <a:p>
                      <a:pPr indent="0" marL="0">
                        <a:buNone/>
                      </a:pPr>
                      <a:r>
                        <a:rPr lang="en-US" sz="1000" b="1" dirty="0">
                          <a:solidFill>
                            <a:srgbClr val="FFFFFF"/>
                          </a:solidFill>
                        </a:rPr>
                        <a:t>Table</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Primary Key</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Important Fields</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Relationship</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r>
              <a:tr h="365760">
                <a:tc>
                  <a:txBody>
                    <a:bodyPr/>
                    <a:lstStyle/>
                    <a:p>
                      <a:pPr indent="0" marL="0">
                        <a:buNone/>
                      </a:pPr>
                      <a:r>
                        <a:rPr lang="en-US" sz="950" b="1" dirty="0">
                          <a:solidFill>
                            <a:srgbClr val="1E2A5E"/>
                          </a:solidFill>
                        </a:rPr>
                        <a:t>Users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user_id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name, email, role</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Receives notifications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Vehicles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vehicle_id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vehicle_no, type, status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Assigned to routes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Routes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route_id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route_name, source, destination</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Contains stops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Stops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stop_id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stop_name, location</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Linked to routes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Schedules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schedule_id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route_id, vehicle_id, departure_time</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Connects routes &amp; vehicles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Locations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location_id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vehicle_id, latitude, longitude, timestamp</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Stores live GPS updates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Notifications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notification_id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user_id, message, status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Linked to users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050" i="1" dirty="0">
                <a:solidFill>
                  <a:srgbClr val="55627A"/>
                </a:solidFill>
              </a:rPr>
              <a:t>Key relationships: Route → Stops | Route + Vehicle → Schedule | Vehicle → Locations | User → Notifications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15</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Implementation – Module 1: Passenger Interface</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14</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Passenger-facing dashboard for tracking and planning trips.</a:t>
            </a:r>
            <a:endParaRPr lang="en-US" sz="1100" dirty="0"/>
          </a:p>
        </p:txBody>
      </p:sp>
      <p:sp>
        <p:nvSpPr>
          <p:cNvPr id="8" name="Shape 5"/>
          <p:cNvSpPr/>
          <p:nvPr/>
        </p:nvSpPr>
        <p:spPr>
          <a:xfrm>
            <a:off x="457200" y="1371600"/>
            <a:ext cx="4046220" cy="1371600"/>
          </a:xfrm>
          <a:prstGeom prst="roundRect">
            <a:avLst>
              <a:gd name="adj" fmla="val 5333"/>
            </a:avLst>
          </a:prstGeom>
          <a:solidFill>
            <a:srgbClr val="FFFFFF"/>
          </a:solidFill>
          <a:ln w="9525">
            <a:solidFill>
              <a:srgbClr val="DDE4EC"/>
            </a:solidFill>
            <a:prstDash val="solid"/>
          </a:ln>
        </p:spPr>
      </p:sp>
      <p:sp>
        <p:nvSpPr>
          <p:cNvPr id="9" name="Shape 6"/>
          <p:cNvSpPr/>
          <p:nvPr/>
        </p:nvSpPr>
        <p:spPr>
          <a:xfrm>
            <a:off x="457200" y="1463040"/>
            <a:ext cx="54864" cy="1188720"/>
          </a:xfrm>
          <a:prstGeom prst="rect">
            <a:avLst/>
          </a:prstGeom>
          <a:solidFill>
            <a:srgbClr val="E8A33D"/>
          </a:solidFill>
          <a:ln w="12700">
            <a:solidFill>
              <a:srgbClr val="E8A33D"/>
            </a:solidFill>
            <a:prstDash val="solid"/>
          </a:ln>
        </p:spPr>
      </p:sp>
      <p:sp>
        <p:nvSpPr>
          <p:cNvPr id="10" name="Text 7"/>
          <p:cNvSpPr txBox="1"/>
          <p:nvPr/>
        </p:nvSpPr>
        <p:spPr>
          <a:xfrm>
            <a:off x="64008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Route &amp; Vehicle Selection</a:t>
            </a:r>
            <a:endParaRPr lang="en-US" sz="1200" dirty="0"/>
          </a:p>
        </p:txBody>
      </p:sp>
      <p:sp>
        <p:nvSpPr>
          <p:cNvPr id="11" name="Text 8"/>
          <p:cNvSpPr txBox="1"/>
          <p:nvPr/>
        </p:nvSpPr>
        <p:spPr>
          <a:xfrm>
            <a:off x="64008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Choose a route or bus to follow.</a:t>
            </a:r>
            <a:endParaRPr lang="en-US" sz="1000" dirty="0"/>
          </a:p>
        </p:txBody>
      </p:sp>
      <p:sp>
        <p:nvSpPr>
          <p:cNvPr id="12" name="Shape 9"/>
          <p:cNvSpPr/>
          <p:nvPr/>
        </p:nvSpPr>
        <p:spPr>
          <a:xfrm>
            <a:off x="4640580" y="1371600"/>
            <a:ext cx="4046220" cy="1371600"/>
          </a:xfrm>
          <a:prstGeom prst="roundRect">
            <a:avLst>
              <a:gd name="adj" fmla="val 5333"/>
            </a:avLst>
          </a:prstGeom>
          <a:solidFill>
            <a:srgbClr val="FFFFFF"/>
          </a:solidFill>
          <a:ln w="9525">
            <a:solidFill>
              <a:srgbClr val="DDE4EC"/>
            </a:solidFill>
            <a:prstDash val="solid"/>
          </a:ln>
        </p:spPr>
      </p:sp>
      <p:sp>
        <p:nvSpPr>
          <p:cNvPr id="13" name="Shape 10"/>
          <p:cNvSpPr/>
          <p:nvPr/>
        </p:nvSpPr>
        <p:spPr>
          <a:xfrm>
            <a:off x="4640580" y="1463040"/>
            <a:ext cx="54864" cy="1188720"/>
          </a:xfrm>
          <a:prstGeom prst="rect">
            <a:avLst/>
          </a:prstGeom>
          <a:solidFill>
            <a:srgbClr val="1F7A9C"/>
          </a:solidFill>
          <a:ln w="12700">
            <a:solidFill>
              <a:srgbClr val="1F7A9C"/>
            </a:solidFill>
            <a:prstDash val="solid"/>
          </a:ln>
        </p:spPr>
      </p:sp>
      <p:sp>
        <p:nvSpPr>
          <p:cNvPr id="14" name="Text 11"/>
          <p:cNvSpPr txBox="1"/>
          <p:nvPr/>
        </p:nvSpPr>
        <p:spPr>
          <a:xfrm>
            <a:off x="482346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Live Bus Location</a:t>
            </a:r>
            <a:endParaRPr lang="en-US" sz="1200" dirty="0"/>
          </a:p>
        </p:txBody>
      </p:sp>
      <p:sp>
        <p:nvSpPr>
          <p:cNvPr id="15" name="Text 12"/>
          <p:cNvSpPr txBox="1"/>
          <p:nvPr/>
        </p:nvSpPr>
        <p:spPr>
          <a:xfrm>
            <a:off x="482346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See current vehicle position on screen.</a:t>
            </a:r>
            <a:endParaRPr lang="en-US" sz="1000" dirty="0"/>
          </a:p>
        </p:txBody>
      </p:sp>
      <p:sp>
        <p:nvSpPr>
          <p:cNvPr id="16" name="Shape 13"/>
          <p:cNvSpPr/>
          <p:nvPr/>
        </p:nvSpPr>
        <p:spPr>
          <a:xfrm>
            <a:off x="457200" y="2880360"/>
            <a:ext cx="4046220" cy="1371600"/>
          </a:xfrm>
          <a:prstGeom prst="roundRect">
            <a:avLst>
              <a:gd name="adj" fmla="val 5333"/>
            </a:avLst>
          </a:prstGeom>
          <a:solidFill>
            <a:srgbClr val="FFFFFF"/>
          </a:solidFill>
          <a:ln w="9525">
            <a:solidFill>
              <a:srgbClr val="DDE4EC"/>
            </a:solidFill>
            <a:prstDash val="solid"/>
          </a:ln>
        </p:spPr>
      </p:sp>
      <p:sp>
        <p:nvSpPr>
          <p:cNvPr id="17" name="Shape 14"/>
          <p:cNvSpPr/>
          <p:nvPr/>
        </p:nvSpPr>
        <p:spPr>
          <a:xfrm>
            <a:off x="457200" y="2971800"/>
            <a:ext cx="54864" cy="1188720"/>
          </a:xfrm>
          <a:prstGeom prst="rect">
            <a:avLst/>
          </a:prstGeom>
          <a:solidFill>
            <a:srgbClr val="E8A33D"/>
          </a:solidFill>
          <a:ln w="12700">
            <a:solidFill>
              <a:srgbClr val="E8A33D"/>
            </a:solidFill>
            <a:prstDash val="solid"/>
          </a:ln>
        </p:spPr>
      </p:sp>
      <p:sp>
        <p:nvSpPr>
          <p:cNvPr id="18" name="Text 15"/>
          <p:cNvSpPr txBox="1"/>
          <p:nvPr/>
        </p:nvSpPr>
        <p:spPr>
          <a:xfrm>
            <a:off x="64008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Stop Details &amp; ETA</a:t>
            </a:r>
            <a:endParaRPr lang="en-US" sz="1200" dirty="0"/>
          </a:p>
        </p:txBody>
      </p:sp>
      <p:sp>
        <p:nvSpPr>
          <p:cNvPr id="19" name="Text 16"/>
          <p:cNvSpPr txBox="1"/>
          <p:nvPr/>
        </p:nvSpPr>
        <p:spPr>
          <a:xfrm>
            <a:off x="64008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View stop info and estimated arrival.</a:t>
            </a:r>
            <a:endParaRPr lang="en-US" sz="1000" dirty="0"/>
          </a:p>
        </p:txBody>
      </p:sp>
      <p:sp>
        <p:nvSpPr>
          <p:cNvPr id="20" name="Shape 17"/>
          <p:cNvSpPr/>
          <p:nvPr/>
        </p:nvSpPr>
        <p:spPr>
          <a:xfrm>
            <a:off x="4640580" y="2880360"/>
            <a:ext cx="4046220" cy="1371600"/>
          </a:xfrm>
          <a:prstGeom prst="roundRect">
            <a:avLst>
              <a:gd name="adj" fmla="val 5333"/>
            </a:avLst>
          </a:prstGeom>
          <a:solidFill>
            <a:srgbClr val="FFFFFF"/>
          </a:solidFill>
          <a:ln w="9525">
            <a:solidFill>
              <a:srgbClr val="DDE4EC"/>
            </a:solidFill>
            <a:prstDash val="solid"/>
          </a:ln>
        </p:spPr>
      </p:sp>
      <p:sp>
        <p:nvSpPr>
          <p:cNvPr id="21" name="Shape 18"/>
          <p:cNvSpPr/>
          <p:nvPr/>
        </p:nvSpPr>
        <p:spPr>
          <a:xfrm>
            <a:off x="4640580" y="2971800"/>
            <a:ext cx="54864" cy="1188720"/>
          </a:xfrm>
          <a:prstGeom prst="rect">
            <a:avLst/>
          </a:prstGeom>
          <a:solidFill>
            <a:srgbClr val="1F7A9C"/>
          </a:solidFill>
          <a:ln w="12700">
            <a:solidFill>
              <a:srgbClr val="1F7A9C"/>
            </a:solidFill>
            <a:prstDash val="solid"/>
          </a:ln>
        </p:spPr>
      </p:sp>
      <p:sp>
        <p:nvSpPr>
          <p:cNvPr id="22" name="Text 19"/>
          <p:cNvSpPr txBox="1"/>
          <p:nvPr/>
        </p:nvSpPr>
        <p:spPr>
          <a:xfrm>
            <a:off x="482346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Notifications</a:t>
            </a:r>
            <a:endParaRPr lang="en-US" sz="1200" dirty="0"/>
          </a:p>
        </p:txBody>
      </p:sp>
      <p:sp>
        <p:nvSpPr>
          <p:cNvPr id="23" name="Text 20"/>
          <p:cNvSpPr txBox="1"/>
          <p:nvPr/>
        </p:nvSpPr>
        <p:spPr>
          <a:xfrm>
            <a:off x="482346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Receive basic status updates.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16</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Implementation – Module 2: Backend &amp; Admin</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15</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Service layer that processes location data and manages records.</a:t>
            </a:r>
            <a:endParaRPr lang="en-US" sz="1100" dirty="0"/>
          </a:p>
        </p:txBody>
      </p:sp>
      <p:sp>
        <p:nvSpPr>
          <p:cNvPr id="8" name="Shape 5"/>
          <p:cNvSpPr/>
          <p:nvPr/>
        </p:nvSpPr>
        <p:spPr>
          <a:xfrm>
            <a:off x="457200" y="1371600"/>
            <a:ext cx="4046220" cy="1371600"/>
          </a:xfrm>
          <a:prstGeom prst="roundRect">
            <a:avLst>
              <a:gd name="adj" fmla="val 5333"/>
            </a:avLst>
          </a:prstGeom>
          <a:solidFill>
            <a:srgbClr val="FFFFFF"/>
          </a:solidFill>
          <a:ln w="9525">
            <a:solidFill>
              <a:srgbClr val="DDE4EC"/>
            </a:solidFill>
            <a:prstDash val="solid"/>
          </a:ln>
        </p:spPr>
      </p:sp>
      <p:sp>
        <p:nvSpPr>
          <p:cNvPr id="9" name="Shape 6"/>
          <p:cNvSpPr/>
          <p:nvPr/>
        </p:nvSpPr>
        <p:spPr>
          <a:xfrm>
            <a:off x="457200" y="1463040"/>
            <a:ext cx="54864" cy="1188720"/>
          </a:xfrm>
          <a:prstGeom prst="rect">
            <a:avLst/>
          </a:prstGeom>
          <a:solidFill>
            <a:srgbClr val="E8A33D"/>
          </a:solidFill>
          <a:ln w="12700">
            <a:solidFill>
              <a:srgbClr val="E8A33D"/>
            </a:solidFill>
            <a:prstDash val="solid"/>
          </a:ln>
        </p:spPr>
      </p:sp>
      <p:sp>
        <p:nvSpPr>
          <p:cNvPr id="10" name="Text 7"/>
          <p:cNvSpPr txBox="1"/>
          <p:nvPr/>
        </p:nvSpPr>
        <p:spPr>
          <a:xfrm>
            <a:off x="64008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Location Processing</a:t>
            </a:r>
            <a:endParaRPr lang="en-US" sz="1200" dirty="0"/>
          </a:p>
        </p:txBody>
      </p:sp>
      <p:sp>
        <p:nvSpPr>
          <p:cNvPr id="11" name="Text 8"/>
          <p:cNvSpPr txBox="1"/>
          <p:nvPr/>
        </p:nvSpPr>
        <p:spPr>
          <a:xfrm>
            <a:off x="64008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Receives and stores GPS updates.</a:t>
            </a:r>
            <a:endParaRPr lang="en-US" sz="1000" dirty="0"/>
          </a:p>
        </p:txBody>
      </p:sp>
      <p:sp>
        <p:nvSpPr>
          <p:cNvPr id="12" name="Shape 9"/>
          <p:cNvSpPr/>
          <p:nvPr/>
        </p:nvSpPr>
        <p:spPr>
          <a:xfrm>
            <a:off x="4640580" y="1371600"/>
            <a:ext cx="4046220" cy="1371600"/>
          </a:xfrm>
          <a:prstGeom prst="roundRect">
            <a:avLst>
              <a:gd name="adj" fmla="val 5333"/>
            </a:avLst>
          </a:prstGeom>
          <a:solidFill>
            <a:srgbClr val="FFFFFF"/>
          </a:solidFill>
          <a:ln w="9525">
            <a:solidFill>
              <a:srgbClr val="DDE4EC"/>
            </a:solidFill>
            <a:prstDash val="solid"/>
          </a:ln>
        </p:spPr>
      </p:sp>
      <p:sp>
        <p:nvSpPr>
          <p:cNvPr id="13" name="Shape 10"/>
          <p:cNvSpPr/>
          <p:nvPr/>
        </p:nvSpPr>
        <p:spPr>
          <a:xfrm>
            <a:off x="4640580" y="1463040"/>
            <a:ext cx="54864" cy="1188720"/>
          </a:xfrm>
          <a:prstGeom prst="rect">
            <a:avLst/>
          </a:prstGeom>
          <a:solidFill>
            <a:srgbClr val="1F7A9C"/>
          </a:solidFill>
          <a:ln w="12700">
            <a:solidFill>
              <a:srgbClr val="1F7A9C"/>
            </a:solidFill>
            <a:prstDash val="solid"/>
          </a:ln>
        </p:spPr>
      </p:sp>
      <p:sp>
        <p:nvSpPr>
          <p:cNvPr id="14" name="Text 11"/>
          <p:cNvSpPr txBox="1"/>
          <p:nvPr/>
        </p:nvSpPr>
        <p:spPr>
          <a:xfrm>
            <a:off x="482346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REST API Layer</a:t>
            </a:r>
            <a:endParaRPr lang="en-US" sz="1200" dirty="0"/>
          </a:p>
        </p:txBody>
      </p:sp>
      <p:sp>
        <p:nvSpPr>
          <p:cNvPr id="15" name="Text 12"/>
          <p:cNvSpPr txBox="1"/>
          <p:nvPr/>
        </p:nvSpPr>
        <p:spPr>
          <a:xfrm>
            <a:off x="482346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Serves routes, stops, ETA and locations.</a:t>
            </a:r>
            <a:endParaRPr lang="en-US" sz="1000" dirty="0"/>
          </a:p>
        </p:txBody>
      </p:sp>
      <p:sp>
        <p:nvSpPr>
          <p:cNvPr id="16" name="Shape 13"/>
          <p:cNvSpPr/>
          <p:nvPr/>
        </p:nvSpPr>
        <p:spPr>
          <a:xfrm>
            <a:off x="457200" y="2880360"/>
            <a:ext cx="4046220" cy="1371600"/>
          </a:xfrm>
          <a:prstGeom prst="roundRect">
            <a:avLst>
              <a:gd name="adj" fmla="val 5333"/>
            </a:avLst>
          </a:prstGeom>
          <a:solidFill>
            <a:srgbClr val="FFFFFF"/>
          </a:solidFill>
          <a:ln w="9525">
            <a:solidFill>
              <a:srgbClr val="DDE4EC"/>
            </a:solidFill>
            <a:prstDash val="solid"/>
          </a:ln>
        </p:spPr>
      </p:sp>
      <p:sp>
        <p:nvSpPr>
          <p:cNvPr id="17" name="Shape 14"/>
          <p:cNvSpPr/>
          <p:nvPr/>
        </p:nvSpPr>
        <p:spPr>
          <a:xfrm>
            <a:off x="457200" y="2971800"/>
            <a:ext cx="54864" cy="1188720"/>
          </a:xfrm>
          <a:prstGeom prst="rect">
            <a:avLst/>
          </a:prstGeom>
          <a:solidFill>
            <a:srgbClr val="E8A33D"/>
          </a:solidFill>
          <a:ln w="12700">
            <a:solidFill>
              <a:srgbClr val="E8A33D"/>
            </a:solidFill>
            <a:prstDash val="solid"/>
          </a:ln>
        </p:spPr>
      </p:sp>
      <p:sp>
        <p:nvSpPr>
          <p:cNvPr id="18" name="Text 15"/>
          <p:cNvSpPr txBox="1"/>
          <p:nvPr/>
        </p:nvSpPr>
        <p:spPr>
          <a:xfrm>
            <a:off x="64008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Vehicle &amp; Route Management</a:t>
            </a:r>
            <a:endParaRPr lang="en-US" sz="1200" dirty="0"/>
          </a:p>
        </p:txBody>
      </p:sp>
      <p:sp>
        <p:nvSpPr>
          <p:cNvPr id="19" name="Text 16"/>
          <p:cNvSpPr txBox="1"/>
          <p:nvPr/>
        </p:nvSpPr>
        <p:spPr>
          <a:xfrm>
            <a:off x="64008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Admin adds and updates vehicles and routes.</a:t>
            </a:r>
            <a:endParaRPr lang="en-US" sz="1000" dirty="0"/>
          </a:p>
        </p:txBody>
      </p:sp>
      <p:sp>
        <p:nvSpPr>
          <p:cNvPr id="20" name="Shape 17"/>
          <p:cNvSpPr/>
          <p:nvPr/>
        </p:nvSpPr>
        <p:spPr>
          <a:xfrm>
            <a:off x="4640580" y="2880360"/>
            <a:ext cx="4046220" cy="1371600"/>
          </a:xfrm>
          <a:prstGeom prst="roundRect">
            <a:avLst>
              <a:gd name="adj" fmla="val 5333"/>
            </a:avLst>
          </a:prstGeom>
          <a:solidFill>
            <a:srgbClr val="FFFFFF"/>
          </a:solidFill>
          <a:ln w="9525">
            <a:solidFill>
              <a:srgbClr val="DDE4EC"/>
            </a:solidFill>
            <a:prstDash val="solid"/>
          </a:ln>
        </p:spPr>
      </p:sp>
      <p:sp>
        <p:nvSpPr>
          <p:cNvPr id="21" name="Shape 18"/>
          <p:cNvSpPr/>
          <p:nvPr/>
        </p:nvSpPr>
        <p:spPr>
          <a:xfrm>
            <a:off x="4640580" y="2971800"/>
            <a:ext cx="54864" cy="1188720"/>
          </a:xfrm>
          <a:prstGeom prst="rect">
            <a:avLst/>
          </a:prstGeom>
          <a:solidFill>
            <a:srgbClr val="1F7A9C"/>
          </a:solidFill>
          <a:ln w="12700">
            <a:solidFill>
              <a:srgbClr val="1F7A9C"/>
            </a:solidFill>
            <a:prstDash val="solid"/>
          </a:ln>
        </p:spPr>
      </p:sp>
      <p:sp>
        <p:nvSpPr>
          <p:cNvPr id="22" name="Text 19"/>
          <p:cNvSpPr txBox="1"/>
          <p:nvPr/>
        </p:nvSpPr>
        <p:spPr>
          <a:xfrm>
            <a:off x="482346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Schedule Management</a:t>
            </a:r>
            <a:endParaRPr lang="en-US" sz="1200" dirty="0"/>
          </a:p>
        </p:txBody>
      </p:sp>
      <p:sp>
        <p:nvSpPr>
          <p:cNvPr id="23" name="Text 20"/>
          <p:cNvSpPr txBox="1"/>
          <p:nvPr/>
        </p:nvSpPr>
        <p:spPr>
          <a:xfrm>
            <a:off x="482346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Stores and updates timings.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17</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Experimental Setup</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16</a:t>
            </a:r>
            <a:endParaRPr lang="en-US" sz="900" dirty="0"/>
          </a:p>
        </p:txBody>
      </p:sp>
      <p:sp>
        <p:nvSpPr>
          <p:cNvPr id="7" name="Shape 4"/>
          <p:cNvSpPr/>
          <p:nvPr/>
        </p:nvSpPr>
        <p:spPr>
          <a:xfrm>
            <a:off x="457200" y="1097280"/>
            <a:ext cx="4046220" cy="1371600"/>
          </a:xfrm>
          <a:prstGeom prst="roundRect">
            <a:avLst>
              <a:gd name="adj" fmla="val 5333"/>
            </a:avLst>
          </a:prstGeom>
          <a:solidFill>
            <a:srgbClr val="FFFFFF"/>
          </a:solidFill>
          <a:ln w="9525">
            <a:solidFill>
              <a:srgbClr val="DDE4EC"/>
            </a:solidFill>
            <a:prstDash val="solid"/>
          </a:ln>
        </p:spPr>
      </p:sp>
      <p:sp>
        <p:nvSpPr>
          <p:cNvPr id="8" name="Shape 5"/>
          <p:cNvSpPr/>
          <p:nvPr/>
        </p:nvSpPr>
        <p:spPr>
          <a:xfrm>
            <a:off x="457200" y="1188720"/>
            <a:ext cx="54864" cy="1188720"/>
          </a:xfrm>
          <a:prstGeom prst="rect">
            <a:avLst/>
          </a:prstGeom>
          <a:solidFill>
            <a:srgbClr val="0B5C80"/>
          </a:solidFill>
          <a:ln w="12700">
            <a:solidFill>
              <a:srgbClr val="0B5C80"/>
            </a:solidFill>
            <a:prstDash val="solid"/>
          </a:ln>
        </p:spPr>
      </p:sp>
      <p:sp>
        <p:nvSpPr>
          <p:cNvPr id="9" name="Text 6"/>
          <p:cNvSpPr txBox="1"/>
          <p:nvPr/>
        </p:nvSpPr>
        <p:spPr>
          <a:xfrm>
            <a:off x="640080" y="118872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Environment</a:t>
            </a:r>
            <a:endParaRPr lang="en-US" sz="1200" dirty="0"/>
          </a:p>
        </p:txBody>
      </p:sp>
      <p:sp>
        <p:nvSpPr>
          <p:cNvPr id="10" name="Text 7"/>
          <p:cNvSpPr txBox="1"/>
          <p:nvPr/>
        </p:nvSpPr>
        <p:spPr>
          <a:xfrm>
            <a:off x="640080" y="1481328"/>
            <a:ext cx="3771900" cy="914400"/>
          </a:xfrm>
          <a:prstGeom prst="rect">
            <a:avLst/>
          </a:prstGeom>
          <a:noFill/>
          <a:ln/>
        </p:spPr>
        <p:txBody>
          <a:bodyPr wrap="square" lIns="0" tIns="0" rIns="0" bIns="0" rtlCol="0" anchor="t"/>
          <a:lstStyle/>
          <a:p>
            <a:pPr indent="0" marL="0">
              <a:buNone/>
            </a:pPr>
            <a:r>
              <a:rPr lang="en-US" sz="1000" dirty="0">
                <a:solidFill>
                  <a:srgbClr val="2B3445"/>
                </a:solidFill>
              </a:rPr>
              <a:t>Backend server with REST endpoints, database and web frontend on a local machine.</a:t>
            </a:r>
            <a:endParaRPr lang="en-US" sz="1000" dirty="0"/>
          </a:p>
        </p:txBody>
      </p:sp>
      <p:sp>
        <p:nvSpPr>
          <p:cNvPr id="11" name="Shape 8"/>
          <p:cNvSpPr/>
          <p:nvPr/>
        </p:nvSpPr>
        <p:spPr>
          <a:xfrm>
            <a:off x="4640580" y="1097280"/>
            <a:ext cx="4046220" cy="1371600"/>
          </a:xfrm>
          <a:prstGeom prst="roundRect">
            <a:avLst>
              <a:gd name="adj" fmla="val 5333"/>
            </a:avLst>
          </a:prstGeom>
          <a:solidFill>
            <a:srgbClr val="FFFFFF"/>
          </a:solidFill>
          <a:ln w="9525">
            <a:solidFill>
              <a:srgbClr val="DDE4EC"/>
            </a:solidFill>
            <a:prstDash val="solid"/>
          </a:ln>
        </p:spPr>
      </p:sp>
      <p:sp>
        <p:nvSpPr>
          <p:cNvPr id="12" name="Shape 9"/>
          <p:cNvSpPr/>
          <p:nvPr/>
        </p:nvSpPr>
        <p:spPr>
          <a:xfrm>
            <a:off x="4640580" y="1188720"/>
            <a:ext cx="54864" cy="1188720"/>
          </a:xfrm>
          <a:prstGeom prst="rect">
            <a:avLst/>
          </a:prstGeom>
          <a:solidFill>
            <a:srgbClr val="0B5C80"/>
          </a:solidFill>
          <a:ln w="12700">
            <a:solidFill>
              <a:srgbClr val="0B5C80"/>
            </a:solidFill>
            <a:prstDash val="solid"/>
          </a:ln>
        </p:spPr>
      </p:sp>
      <p:sp>
        <p:nvSpPr>
          <p:cNvPr id="13" name="Text 10"/>
          <p:cNvSpPr txBox="1"/>
          <p:nvPr/>
        </p:nvSpPr>
        <p:spPr>
          <a:xfrm>
            <a:off x="4823460" y="118872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Test Scenarios</a:t>
            </a:r>
            <a:endParaRPr lang="en-US" sz="1200" dirty="0"/>
          </a:p>
        </p:txBody>
      </p:sp>
      <p:sp>
        <p:nvSpPr>
          <p:cNvPr id="14" name="Text 11"/>
          <p:cNvSpPr txBox="1"/>
          <p:nvPr/>
        </p:nvSpPr>
        <p:spPr>
          <a:xfrm>
            <a:off x="4823460" y="1481328"/>
            <a:ext cx="3771900" cy="914400"/>
          </a:xfrm>
          <a:prstGeom prst="rect">
            <a:avLst/>
          </a:prstGeom>
          <a:noFill/>
          <a:ln/>
        </p:spPr>
        <p:txBody>
          <a:bodyPr wrap="square" lIns="0" tIns="0" rIns="0" bIns="0" rtlCol="0" anchor="t"/>
          <a:lstStyle/>
          <a:p>
            <a:pPr indent="0" marL="0">
              <a:buNone/>
            </a:pPr>
            <a:r>
              <a:rPr lang="en-US" sz="1000" dirty="0">
                <a:solidFill>
                  <a:srgbClr val="2B3445"/>
                </a:solidFill>
              </a:rPr>
              <a:t>Simulated GPS updates, route and stop lookups, ETA display and notifications.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18</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Results &amp; Performance Evaluation</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17</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Anticipated outcomes and metrics planned for evaluation:</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gridCol w="3474720"/>
                <a:gridCol w="2560320"/>
              </a:tblGrid>
              <a:tr h="365760">
                <a:tc>
                  <a:txBody>
                    <a:bodyPr/>
                    <a:lstStyle/>
                    <a:p>
                      <a:pPr indent="0" marL="0">
                        <a:buNone/>
                      </a:pPr>
                      <a:r>
                        <a:rPr lang="en-US" sz="1000" b="1" dirty="0">
                          <a:solidFill>
                            <a:srgbClr val="FFFFFF"/>
                          </a:solidFill>
                        </a:rPr>
                        <a:t>Metric</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What It Measures</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Method</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r>
              <a:tr h="365760">
                <a:tc>
                  <a:txBody>
                    <a:bodyPr/>
                    <a:lstStyle/>
                    <a:p>
                      <a:pPr indent="0" marL="0">
                        <a:buNone/>
                      </a:pPr>
                      <a:r>
                        <a:rPr lang="en-US" sz="950" b="1" dirty="0">
                          <a:solidFill>
                            <a:srgbClr val="1E2A5E"/>
                          </a:solidFill>
                        </a:rPr>
                        <a:t>Location Update Delay</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Time from GPS update to screen</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Timestamp comparison</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ETA Accuracy</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Estimated vs actual arrival</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Test runs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API Response Time</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Speed of route and location APIs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API testing</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Data Consistency</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Correct records after many updates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Database check</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Notification Delivery</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Alerts reach users correctly</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Functional tests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57200" y="3749040"/>
            <a:ext cx="8229600" cy="411480"/>
          </a:xfrm>
          <a:prstGeom prst="rect">
            <a:avLst/>
          </a:prstGeom>
          <a:noFill/>
          <a:ln/>
        </p:spPr>
        <p:txBody>
          <a:bodyPr wrap="square" lIns="0" tIns="0" rIns="0" bIns="0" rtlCol="0" anchor="ctr"/>
          <a:lstStyle/>
          <a:p>
            <a:pPr indent="0" marL="0">
              <a:buNone/>
            </a:pPr>
            <a:r>
              <a:rPr lang="en-US" sz="1050" i="1" dirty="0">
                <a:solidFill>
                  <a:srgbClr val="55627A"/>
                </a:solidFill>
              </a:rPr>
              <a:t>Outcomes are expected from the design and are to be confirmed through full testing.</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19</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Screenshots / Working Demo</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18</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Screens to be shown in the demonstration:</a:t>
            </a:r>
            <a:endParaRPr lang="en-US" sz="1100" dirty="0"/>
          </a:p>
        </p:txBody>
      </p:sp>
      <p:sp>
        <p:nvSpPr>
          <p:cNvPr id="8" name="Shape 5"/>
          <p:cNvSpPr/>
          <p:nvPr/>
        </p:nvSpPr>
        <p:spPr>
          <a:xfrm>
            <a:off x="457200" y="1371600"/>
            <a:ext cx="4046220" cy="1371600"/>
          </a:xfrm>
          <a:prstGeom prst="roundRect">
            <a:avLst>
              <a:gd name="adj" fmla="val 5333"/>
            </a:avLst>
          </a:prstGeom>
          <a:solidFill>
            <a:srgbClr val="FFFFFF"/>
          </a:solidFill>
          <a:ln w="9525">
            <a:solidFill>
              <a:srgbClr val="DDE4EC"/>
            </a:solidFill>
            <a:prstDash val="solid"/>
          </a:ln>
        </p:spPr>
      </p:sp>
      <p:sp>
        <p:nvSpPr>
          <p:cNvPr id="9" name="Shape 6"/>
          <p:cNvSpPr/>
          <p:nvPr/>
        </p:nvSpPr>
        <p:spPr>
          <a:xfrm>
            <a:off x="457200" y="1463040"/>
            <a:ext cx="54864" cy="1188720"/>
          </a:xfrm>
          <a:prstGeom prst="rect">
            <a:avLst/>
          </a:prstGeom>
          <a:solidFill>
            <a:srgbClr val="0B5C80"/>
          </a:solidFill>
          <a:ln w="12700">
            <a:solidFill>
              <a:srgbClr val="0B5C80"/>
            </a:solidFill>
            <a:prstDash val="solid"/>
          </a:ln>
        </p:spPr>
      </p:sp>
      <p:sp>
        <p:nvSpPr>
          <p:cNvPr id="10" name="Text 7"/>
          <p:cNvSpPr txBox="1"/>
          <p:nvPr/>
        </p:nvSpPr>
        <p:spPr>
          <a:xfrm>
            <a:off x="64008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Home / Route Search</a:t>
            </a:r>
            <a:endParaRPr lang="en-US" sz="1200" dirty="0"/>
          </a:p>
        </p:txBody>
      </p:sp>
      <p:sp>
        <p:nvSpPr>
          <p:cNvPr id="11" name="Text 8"/>
          <p:cNvSpPr txBox="1"/>
          <p:nvPr/>
        </p:nvSpPr>
        <p:spPr>
          <a:xfrm>
            <a:off x="64008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Select route or vehicle.</a:t>
            </a:r>
            <a:endParaRPr lang="en-US" sz="1000" dirty="0"/>
          </a:p>
        </p:txBody>
      </p:sp>
      <p:sp>
        <p:nvSpPr>
          <p:cNvPr id="12" name="Shape 9"/>
          <p:cNvSpPr/>
          <p:nvPr/>
        </p:nvSpPr>
        <p:spPr>
          <a:xfrm>
            <a:off x="4640580" y="1371600"/>
            <a:ext cx="4046220" cy="1371600"/>
          </a:xfrm>
          <a:prstGeom prst="roundRect">
            <a:avLst>
              <a:gd name="adj" fmla="val 5333"/>
            </a:avLst>
          </a:prstGeom>
          <a:solidFill>
            <a:srgbClr val="FFFFFF"/>
          </a:solidFill>
          <a:ln w="9525">
            <a:solidFill>
              <a:srgbClr val="DDE4EC"/>
            </a:solidFill>
            <a:prstDash val="solid"/>
          </a:ln>
        </p:spPr>
      </p:sp>
      <p:sp>
        <p:nvSpPr>
          <p:cNvPr id="13" name="Shape 10"/>
          <p:cNvSpPr/>
          <p:nvPr/>
        </p:nvSpPr>
        <p:spPr>
          <a:xfrm>
            <a:off x="4640580" y="1463040"/>
            <a:ext cx="54864" cy="1188720"/>
          </a:xfrm>
          <a:prstGeom prst="rect">
            <a:avLst/>
          </a:prstGeom>
          <a:solidFill>
            <a:srgbClr val="0B5C80"/>
          </a:solidFill>
          <a:ln w="12700">
            <a:solidFill>
              <a:srgbClr val="0B5C80"/>
            </a:solidFill>
            <a:prstDash val="solid"/>
          </a:ln>
        </p:spPr>
      </p:sp>
      <p:sp>
        <p:nvSpPr>
          <p:cNvPr id="14" name="Text 11"/>
          <p:cNvSpPr txBox="1"/>
          <p:nvPr/>
        </p:nvSpPr>
        <p:spPr>
          <a:xfrm>
            <a:off x="4823460" y="146304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Live Map View</a:t>
            </a:r>
            <a:endParaRPr lang="en-US" sz="1200" dirty="0"/>
          </a:p>
        </p:txBody>
      </p:sp>
      <p:sp>
        <p:nvSpPr>
          <p:cNvPr id="15" name="Text 12"/>
          <p:cNvSpPr txBox="1"/>
          <p:nvPr/>
        </p:nvSpPr>
        <p:spPr>
          <a:xfrm>
            <a:off x="4823460" y="1755648"/>
            <a:ext cx="3771900" cy="914400"/>
          </a:xfrm>
          <a:prstGeom prst="rect">
            <a:avLst/>
          </a:prstGeom>
          <a:noFill/>
          <a:ln/>
        </p:spPr>
        <p:txBody>
          <a:bodyPr wrap="square" lIns="0" tIns="0" rIns="0" bIns="0" rtlCol="0" anchor="t"/>
          <a:lstStyle/>
          <a:p>
            <a:pPr indent="0" marL="0">
              <a:buNone/>
            </a:pPr>
            <a:r>
              <a:rPr lang="en-US" sz="1000" dirty="0">
                <a:solidFill>
                  <a:srgbClr val="2B3445"/>
                </a:solidFill>
              </a:rPr>
              <a:t>Bus position on route.</a:t>
            </a:r>
            <a:endParaRPr lang="en-US" sz="1000" dirty="0"/>
          </a:p>
        </p:txBody>
      </p:sp>
      <p:sp>
        <p:nvSpPr>
          <p:cNvPr id="16" name="Shape 13"/>
          <p:cNvSpPr/>
          <p:nvPr/>
        </p:nvSpPr>
        <p:spPr>
          <a:xfrm>
            <a:off x="457200" y="2880360"/>
            <a:ext cx="4046220" cy="1371600"/>
          </a:xfrm>
          <a:prstGeom prst="roundRect">
            <a:avLst>
              <a:gd name="adj" fmla="val 5333"/>
            </a:avLst>
          </a:prstGeom>
          <a:solidFill>
            <a:srgbClr val="FFFFFF"/>
          </a:solidFill>
          <a:ln w="9525">
            <a:solidFill>
              <a:srgbClr val="DDE4EC"/>
            </a:solidFill>
            <a:prstDash val="solid"/>
          </a:ln>
        </p:spPr>
      </p:sp>
      <p:sp>
        <p:nvSpPr>
          <p:cNvPr id="17" name="Shape 14"/>
          <p:cNvSpPr/>
          <p:nvPr/>
        </p:nvSpPr>
        <p:spPr>
          <a:xfrm>
            <a:off x="457200" y="2971800"/>
            <a:ext cx="54864" cy="1188720"/>
          </a:xfrm>
          <a:prstGeom prst="rect">
            <a:avLst/>
          </a:prstGeom>
          <a:solidFill>
            <a:srgbClr val="0B5C80"/>
          </a:solidFill>
          <a:ln w="12700">
            <a:solidFill>
              <a:srgbClr val="0B5C80"/>
            </a:solidFill>
            <a:prstDash val="solid"/>
          </a:ln>
        </p:spPr>
      </p:sp>
      <p:sp>
        <p:nvSpPr>
          <p:cNvPr id="18" name="Text 15"/>
          <p:cNvSpPr txBox="1"/>
          <p:nvPr/>
        </p:nvSpPr>
        <p:spPr>
          <a:xfrm>
            <a:off x="64008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Stop &amp; ETA Details</a:t>
            </a:r>
            <a:endParaRPr lang="en-US" sz="1200" dirty="0"/>
          </a:p>
        </p:txBody>
      </p:sp>
      <p:sp>
        <p:nvSpPr>
          <p:cNvPr id="19" name="Text 16"/>
          <p:cNvSpPr txBox="1"/>
          <p:nvPr/>
        </p:nvSpPr>
        <p:spPr>
          <a:xfrm>
            <a:off x="64008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Arrival times at stops.</a:t>
            </a:r>
            <a:endParaRPr lang="en-US" sz="1000" dirty="0"/>
          </a:p>
        </p:txBody>
      </p:sp>
      <p:sp>
        <p:nvSpPr>
          <p:cNvPr id="20" name="Shape 17"/>
          <p:cNvSpPr/>
          <p:nvPr/>
        </p:nvSpPr>
        <p:spPr>
          <a:xfrm>
            <a:off x="4640580" y="2880360"/>
            <a:ext cx="4046220" cy="1371600"/>
          </a:xfrm>
          <a:prstGeom prst="roundRect">
            <a:avLst>
              <a:gd name="adj" fmla="val 5333"/>
            </a:avLst>
          </a:prstGeom>
          <a:solidFill>
            <a:srgbClr val="FFFFFF"/>
          </a:solidFill>
          <a:ln w="9525">
            <a:solidFill>
              <a:srgbClr val="DDE4EC"/>
            </a:solidFill>
            <a:prstDash val="solid"/>
          </a:ln>
        </p:spPr>
      </p:sp>
      <p:sp>
        <p:nvSpPr>
          <p:cNvPr id="21" name="Shape 18"/>
          <p:cNvSpPr/>
          <p:nvPr/>
        </p:nvSpPr>
        <p:spPr>
          <a:xfrm>
            <a:off x="4640580" y="2971800"/>
            <a:ext cx="54864" cy="1188720"/>
          </a:xfrm>
          <a:prstGeom prst="rect">
            <a:avLst/>
          </a:prstGeom>
          <a:solidFill>
            <a:srgbClr val="0B5C80"/>
          </a:solidFill>
          <a:ln w="12700">
            <a:solidFill>
              <a:srgbClr val="0B5C80"/>
            </a:solidFill>
            <a:prstDash val="solid"/>
          </a:ln>
        </p:spPr>
      </p:sp>
      <p:sp>
        <p:nvSpPr>
          <p:cNvPr id="22" name="Text 19"/>
          <p:cNvSpPr txBox="1"/>
          <p:nvPr/>
        </p:nvSpPr>
        <p:spPr>
          <a:xfrm>
            <a:off x="4823460" y="2971800"/>
            <a:ext cx="3771900" cy="274320"/>
          </a:xfrm>
          <a:prstGeom prst="rect">
            <a:avLst/>
          </a:prstGeom>
          <a:noFill/>
          <a:ln/>
        </p:spPr>
        <p:txBody>
          <a:bodyPr wrap="square" lIns="0" tIns="0" rIns="0" bIns="0" rtlCol="0" anchor="ctr"/>
          <a:lstStyle/>
          <a:p>
            <a:pPr indent="0" marL="0">
              <a:buNone/>
            </a:pPr>
            <a:r>
              <a:rPr lang="en-US" sz="1200" b="1" dirty="0">
                <a:solidFill>
                  <a:srgbClr val="1E2A5E"/>
                </a:solidFill>
              </a:rPr>
              <a:t>Admin Dashboard</a:t>
            </a:r>
            <a:endParaRPr lang="en-US" sz="1200" dirty="0"/>
          </a:p>
        </p:txBody>
      </p:sp>
      <p:sp>
        <p:nvSpPr>
          <p:cNvPr id="23" name="Text 20"/>
          <p:cNvSpPr txBox="1"/>
          <p:nvPr/>
        </p:nvSpPr>
        <p:spPr>
          <a:xfrm>
            <a:off x="4823460" y="3264408"/>
            <a:ext cx="3771900" cy="914400"/>
          </a:xfrm>
          <a:prstGeom prst="rect">
            <a:avLst/>
          </a:prstGeom>
          <a:noFill/>
          <a:ln/>
        </p:spPr>
        <p:txBody>
          <a:bodyPr wrap="square" lIns="0" tIns="0" rIns="0" bIns="0" rtlCol="0" anchor="t"/>
          <a:lstStyle/>
          <a:p>
            <a:pPr indent="0" marL="0">
              <a:buNone/>
            </a:pPr>
            <a:r>
              <a:rPr lang="en-US" sz="1000" dirty="0">
                <a:solidFill>
                  <a:srgbClr val="2B3445"/>
                </a:solidFill>
              </a:rPr>
              <a:t>Vehicles, routes, schedules.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20</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Comparison with Existing System</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19</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2926080"/>
                <a:gridCol w="3291840"/>
              </a:tblGrid>
              <a:tr h="365760">
                <a:tc>
                  <a:txBody>
                    <a:bodyPr/>
                    <a:lstStyle/>
                    <a:p>
                      <a:pPr indent="0" marL="0">
                        <a:buNone/>
                      </a:pPr>
                      <a:r>
                        <a:rPr lang="en-US" sz="1000" b="1" dirty="0">
                          <a:solidFill>
                            <a:srgbClr val="FFFFFF"/>
                          </a:solidFill>
                        </a:rPr>
                        <a:t>Criteria</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Existing System</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Proposed Live Tracker</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r>
              <a:tr h="365760">
                <a:tc>
                  <a:txBody>
                    <a:bodyPr/>
                    <a:lstStyle/>
                    <a:p>
                      <a:pPr indent="0" marL="0">
                        <a:buNone/>
                      </a:pPr>
                      <a:r>
                        <a:rPr lang="en-US" sz="950" b="1" dirty="0">
                          <a:solidFill>
                            <a:srgbClr val="1E2A5E"/>
                          </a:solidFill>
                        </a:rPr>
                        <a:t>Vehicle Location</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Not available to passengers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Live GPS-based location</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Arrival Time</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Fixed schedule only</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Estimated arrival at stops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Data Management</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Separate manual systems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Centralized database</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Notifications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None or manual</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Basic status updates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Passenger Experience</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Long, uncertain waits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Reduced waiting uncertainty</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21</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Challenges &amp; Solutions</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20</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00400"/>
                <a:gridCol w="5029200"/>
              </a:tblGrid>
              <a:tr h="365760">
                <a:tc>
                  <a:txBody>
                    <a:bodyPr/>
                    <a:lstStyle/>
                    <a:p>
                      <a:pPr indent="0" marL="0">
                        <a:buNone/>
                      </a:pPr>
                      <a:r>
                        <a:rPr lang="en-US" sz="1000" b="1" dirty="0">
                          <a:solidFill>
                            <a:srgbClr val="FFFFFF"/>
                          </a:solidFill>
                        </a:rPr>
                        <a:t>Challenge</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c>
                  <a:txBody>
                    <a:bodyPr/>
                    <a:lstStyle/>
                    <a:p>
                      <a:pPr indent="0" marL="0">
                        <a:buNone/>
                      </a:pPr>
                      <a:r>
                        <a:rPr lang="en-US" sz="1000" b="1" dirty="0">
                          <a:solidFill>
                            <a:srgbClr val="FFFFFF"/>
                          </a:solidFill>
                        </a:rPr>
                        <a:t>Solution</a:t>
                      </a:r>
                      <a:endParaRPr lang="en-US" sz="100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1E2A5E"/>
                    </a:solidFill>
                  </a:tcPr>
                </a:tc>
              </a:tr>
              <a:tr h="365760">
                <a:tc>
                  <a:txBody>
                    <a:bodyPr/>
                    <a:lstStyle/>
                    <a:p>
                      <a:pPr indent="0" marL="0">
                        <a:buNone/>
                      </a:pPr>
                      <a:r>
                        <a:rPr lang="en-US" sz="950" b="1" dirty="0">
                          <a:solidFill>
                            <a:srgbClr val="1E2A5E"/>
                          </a:solidFill>
                        </a:rPr>
                        <a:t>Delayed or missing GPS updates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Use latest timestamp and show last known location</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Accurate arrival estimates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Combine distance, speed and schedule data</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r h="365760">
                <a:tc>
                  <a:txBody>
                    <a:bodyPr/>
                    <a:lstStyle/>
                    <a:p>
                      <a:pPr indent="0" marL="0">
                        <a:buNone/>
                      </a:pPr>
                      <a:r>
                        <a:rPr lang="en-US" sz="950" b="1" dirty="0">
                          <a:solidFill>
                            <a:srgbClr val="1E2A5E"/>
                          </a:solidFill>
                        </a:rPr>
                        <a:t>Handling many location records</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950" dirty="0">
                          <a:solidFill>
                            <a:srgbClr val="2B3445"/>
                          </a:solidFill>
                        </a:rPr>
                        <a:t>Indexed Locations table keyed by vehicle_id</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1E2A5E"/>
                          </a:solidFill>
                        </a:rPr>
                        <a:t>Keeping screens current</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c>
                  <a:txBody>
                    <a:bodyPr/>
                    <a:lstStyle/>
                    <a:p>
                      <a:pPr indent="0" marL="0">
                        <a:buNone/>
                      </a:pPr>
                      <a:r>
                        <a:rPr lang="en-US" sz="950" dirty="0">
                          <a:solidFill>
                            <a:srgbClr val="2B3445"/>
                          </a:solidFill>
                        </a:rPr>
                        <a:t>REST APIs with periodic refresh of live data</a:t>
                      </a:r>
                      <a:endParaRPr lang="en-US" sz="950" dirty="0"/>
                    </a:p>
                  </a:txBody>
                  <a:tcPr marL="91440" marR="91440" marT="45720" marB="4572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EAF1F7"/>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22</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Future Work</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21</a:t>
            </a:r>
            <a:endParaRPr lang="en-US" sz="900" dirty="0"/>
          </a:p>
        </p:txBody>
      </p:sp>
      <p:sp>
        <p:nvSpPr>
          <p:cNvPr id="7" name="Shape 4"/>
          <p:cNvSpPr/>
          <p:nvPr/>
        </p:nvSpPr>
        <p:spPr>
          <a:xfrm>
            <a:off x="457200" y="1097280"/>
            <a:ext cx="2651760" cy="1371600"/>
          </a:xfrm>
          <a:prstGeom prst="roundRect">
            <a:avLst>
              <a:gd name="adj" fmla="val 5333"/>
            </a:avLst>
          </a:prstGeom>
          <a:solidFill>
            <a:srgbClr val="FFFFFF"/>
          </a:solidFill>
          <a:ln w="9525">
            <a:solidFill>
              <a:srgbClr val="DDE4EC"/>
            </a:solidFill>
            <a:prstDash val="solid"/>
          </a:ln>
        </p:spPr>
      </p:sp>
      <p:sp>
        <p:nvSpPr>
          <p:cNvPr id="8" name="Shape 5"/>
          <p:cNvSpPr/>
          <p:nvPr/>
        </p:nvSpPr>
        <p:spPr>
          <a:xfrm>
            <a:off x="457200" y="1188720"/>
            <a:ext cx="54864" cy="1188720"/>
          </a:xfrm>
          <a:prstGeom prst="rect">
            <a:avLst/>
          </a:prstGeom>
          <a:solidFill>
            <a:srgbClr val="E8A33D"/>
          </a:solidFill>
          <a:ln w="12700">
            <a:solidFill>
              <a:srgbClr val="E8A33D"/>
            </a:solidFill>
            <a:prstDash val="solid"/>
          </a:ln>
        </p:spPr>
      </p:sp>
      <p:sp>
        <p:nvSpPr>
          <p:cNvPr id="9" name="Text 6"/>
          <p:cNvSpPr txBox="1"/>
          <p:nvPr/>
        </p:nvSpPr>
        <p:spPr>
          <a:xfrm>
            <a:off x="64008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Mobile App</a:t>
            </a:r>
            <a:endParaRPr lang="en-US" sz="1200" dirty="0"/>
          </a:p>
        </p:txBody>
      </p:sp>
      <p:sp>
        <p:nvSpPr>
          <p:cNvPr id="10" name="Text 7"/>
          <p:cNvSpPr txBox="1"/>
          <p:nvPr/>
        </p:nvSpPr>
        <p:spPr>
          <a:xfrm>
            <a:off x="64008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Android and iOS versions.</a:t>
            </a:r>
            <a:endParaRPr lang="en-US" sz="1000" dirty="0"/>
          </a:p>
        </p:txBody>
      </p:sp>
      <p:sp>
        <p:nvSpPr>
          <p:cNvPr id="11" name="Shape 8"/>
          <p:cNvSpPr/>
          <p:nvPr/>
        </p:nvSpPr>
        <p:spPr>
          <a:xfrm>
            <a:off x="3246120" y="1097280"/>
            <a:ext cx="2651760" cy="1371600"/>
          </a:xfrm>
          <a:prstGeom prst="roundRect">
            <a:avLst>
              <a:gd name="adj" fmla="val 5333"/>
            </a:avLst>
          </a:prstGeom>
          <a:solidFill>
            <a:srgbClr val="FFFFFF"/>
          </a:solidFill>
          <a:ln w="9525">
            <a:solidFill>
              <a:srgbClr val="DDE4EC"/>
            </a:solidFill>
            <a:prstDash val="solid"/>
          </a:ln>
        </p:spPr>
      </p:sp>
      <p:sp>
        <p:nvSpPr>
          <p:cNvPr id="12" name="Shape 9"/>
          <p:cNvSpPr/>
          <p:nvPr/>
        </p:nvSpPr>
        <p:spPr>
          <a:xfrm>
            <a:off x="3246120" y="1188720"/>
            <a:ext cx="54864" cy="1188720"/>
          </a:xfrm>
          <a:prstGeom prst="rect">
            <a:avLst/>
          </a:prstGeom>
          <a:solidFill>
            <a:srgbClr val="1F7A9C"/>
          </a:solidFill>
          <a:ln w="12700">
            <a:solidFill>
              <a:srgbClr val="1F7A9C"/>
            </a:solidFill>
            <a:prstDash val="solid"/>
          </a:ln>
        </p:spPr>
      </p:sp>
      <p:sp>
        <p:nvSpPr>
          <p:cNvPr id="13" name="Text 10"/>
          <p:cNvSpPr txBox="1"/>
          <p:nvPr/>
        </p:nvSpPr>
        <p:spPr>
          <a:xfrm>
            <a:off x="342900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Smart ETA</a:t>
            </a:r>
            <a:endParaRPr lang="en-US" sz="1200" dirty="0"/>
          </a:p>
        </p:txBody>
      </p:sp>
      <p:sp>
        <p:nvSpPr>
          <p:cNvPr id="14" name="Text 11"/>
          <p:cNvSpPr txBox="1"/>
          <p:nvPr/>
        </p:nvSpPr>
        <p:spPr>
          <a:xfrm>
            <a:off x="342900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Traffic-aware predictions.</a:t>
            </a:r>
            <a:endParaRPr lang="en-US" sz="1000" dirty="0"/>
          </a:p>
        </p:txBody>
      </p:sp>
      <p:sp>
        <p:nvSpPr>
          <p:cNvPr id="15" name="Shape 12"/>
          <p:cNvSpPr/>
          <p:nvPr/>
        </p:nvSpPr>
        <p:spPr>
          <a:xfrm>
            <a:off x="6035040" y="1097280"/>
            <a:ext cx="2651760" cy="1371600"/>
          </a:xfrm>
          <a:prstGeom prst="roundRect">
            <a:avLst>
              <a:gd name="adj" fmla="val 5333"/>
            </a:avLst>
          </a:prstGeom>
          <a:solidFill>
            <a:srgbClr val="FFFFFF"/>
          </a:solidFill>
          <a:ln w="9525">
            <a:solidFill>
              <a:srgbClr val="DDE4EC"/>
            </a:solidFill>
            <a:prstDash val="solid"/>
          </a:ln>
        </p:spPr>
      </p:sp>
      <p:sp>
        <p:nvSpPr>
          <p:cNvPr id="16" name="Shape 13"/>
          <p:cNvSpPr/>
          <p:nvPr/>
        </p:nvSpPr>
        <p:spPr>
          <a:xfrm>
            <a:off x="6035040" y="1188720"/>
            <a:ext cx="54864" cy="1188720"/>
          </a:xfrm>
          <a:prstGeom prst="rect">
            <a:avLst/>
          </a:prstGeom>
          <a:solidFill>
            <a:srgbClr val="E8A33D"/>
          </a:solidFill>
          <a:ln w="12700">
            <a:solidFill>
              <a:srgbClr val="E8A33D"/>
            </a:solidFill>
            <a:prstDash val="solid"/>
          </a:ln>
        </p:spPr>
      </p:sp>
      <p:sp>
        <p:nvSpPr>
          <p:cNvPr id="17" name="Text 14"/>
          <p:cNvSpPr txBox="1"/>
          <p:nvPr/>
        </p:nvSpPr>
        <p:spPr>
          <a:xfrm>
            <a:off x="6217920" y="118872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Live Map Alerts</a:t>
            </a:r>
            <a:endParaRPr lang="en-US" sz="1200" dirty="0"/>
          </a:p>
        </p:txBody>
      </p:sp>
      <p:sp>
        <p:nvSpPr>
          <p:cNvPr id="18" name="Text 15"/>
          <p:cNvSpPr txBox="1"/>
          <p:nvPr/>
        </p:nvSpPr>
        <p:spPr>
          <a:xfrm>
            <a:off x="6217920" y="1481328"/>
            <a:ext cx="2377440" cy="914400"/>
          </a:xfrm>
          <a:prstGeom prst="rect">
            <a:avLst/>
          </a:prstGeom>
          <a:noFill/>
          <a:ln/>
        </p:spPr>
        <p:txBody>
          <a:bodyPr wrap="square" lIns="0" tIns="0" rIns="0" bIns="0" rtlCol="0" anchor="t"/>
          <a:lstStyle/>
          <a:p>
            <a:pPr indent="0" marL="0">
              <a:buNone/>
            </a:pPr>
            <a:r>
              <a:rPr lang="en-US" sz="1000" dirty="0">
                <a:solidFill>
                  <a:srgbClr val="2B3445"/>
                </a:solidFill>
              </a:rPr>
              <a:t>Delay and crowding alerts.</a:t>
            </a:r>
            <a:endParaRPr lang="en-US" sz="1000" dirty="0"/>
          </a:p>
        </p:txBody>
      </p:sp>
      <p:sp>
        <p:nvSpPr>
          <p:cNvPr id="19" name="Shape 16"/>
          <p:cNvSpPr/>
          <p:nvPr/>
        </p:nvSpPr>
        <p:spPr>
          <a:xfrm>
            <a:off x="457200" y="2606040"/>
            <a:ext cx="2651760" cy="1371600"/>
          </a:xfrm>
          <a:prstGeom prst="roundRect">
            <a:avLst>
              <a:gd name="adj" fmla="val 5333"/>
            </a:avLst>
          </a:prstGeom>
          <a:solidFill>
            <a:srgbClr val="FFFFFF"/>
          </a:solidFill>
          <a:ln w="9525">
            <a:solidFill>
              <a:srgbClr val="DDE4EC"/>
            </a:solidFill>
            <a:prstDash val="solid"/>
          </a:ln>
        </p:spPr>
      </p:sp>
      <p:sp>
        <p:nvSpPr>
          <p:cNvPr id="20" name="Shape 17"/>
          <p:cNvSpPr/>
          <p:nvPr/>
        </p:nvSpPr>
        <p:spPr>
          <a:xfrm>
            <a:off x="457200" y="2697480"/>
            <a:ext cx="54864" cy="1188720"/>
          </a:xfrm>
          <a:prstGeom prst="rect">
            <a:avLst/>
          </a:prstGeom>
          <a:solidFill>
            <a:srgbClr val="1F7A9C"/>
          </a:solidFill>
          <a:ln w="12700">
            <a:solidFill>
              <a:srgbClr val="1F7A9C"/>
            </a:solidFill>
            <a:prstDash val="solid"/>
          </a:ln>
        </p:spPr>
      </p:sp>
      <p:sp>
        <p:nvSpPr>
          <p:cNvPr id="21" name="Text 18"/>
          <p:cNvSpPr txBox="1"/>
          <p:nvPr/>
        </p:nvSpPr>
        <p:spPr>
          <a:xfrm>
            <a:off x="64008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Ticketing</a:t>
            </a:r>
            <a:endParaRPr lang="en-US" sz="1200" dirty="0"/>
          </a:p>
        </p:txBody>
      </p:sp>
      <p:sp>
        <p:nvSpPr>
          <p:cNvPr id="22" name="Text 19"/>
          <p:cNvSpPr txBox="1"/>
          <p:nvPr/>
        </p:nvSpPr>
        <p:spPr>
          <a:xfrm>
            <a:off x="64008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Integrated online tickets.</a:t>
            </a:r>
            <a:endParaRPr lang="en-US" sz="1000" dirty="0"/>
          </a:p>
        </p:txBody>
      </p:sp>
      <p:sp>
        <p:nvSpPr>
          <p:cNvPr id="23" name="Shape 20"/>
          <p:cNvSpPr/>
          <p:nvPr/>
        </p:nvSpPr>
        <p:spPr>
          <a:xfrm>
            <a:off x="3246120" y="2606040"/>
            <a:ext cx="2651760" cy="1371600"/>
          </a:xfrm>
          <a:prstGeom prst="roundRect">
            <a:avLst>
              <a:gd name="adj" fmla="val 5333"/>
            </a:avLst>
          </a:prstGeom>
          <a:solidFill>
            <a:srgbClr val="FFFFFF"/>
          </a:solidFill>
          <a:ln w="9525">
            <a:solidFill>
              <a:srgbClr val="DDE4EC"/>
            </a:solidFill>
            <a:prstDash val="solid"/>
          </a:ln>
        </p:spPr>
      </p:sp>
      <p:sp>
        <p:nvSpPr>
          <p:cNvPr id="24" name="Shape 21"/>
          <p:cNvSpPr/>
          <p:nvPr/>
        </p:nvSpPr>
        <p:spPr>
          <a:xfrm>
            <a:off x="3246120" y="2697480"/>
            <a:ext cx="54864" cy="1188720"/>
          </a:xfrm>
          <a:prstGeom prst="rect">
            <a:avLst/>
          </a:prstGeom>
          <a:solidFill>
            <a:srgbClr val="E8A33D"/>
          </a:solidFill>
          <a:ln w="12700">
            <a:solidFill>
              <a:srgbClr val="E8A33D"/>
            </a:solidFill>
            <a:prstDash val="solid"/>
          </a:ln>
        </p:spPr>
      </p:sp>
      <p:sp>
        <p:nvSpPr>
          <p:cNvPr id="25" name="Text 22"/>
          <p:cNvSpPr txBox="1"/>
          <p:nvPr/>
        </p:nvSpPr>
        <p:spPr>
          <a:xfrm>
            <a:off x="342900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Multi-language</a:t>
            </a:r>
            <a:endParaRPr lang="en-US" sz="1200" dirty="0"/>
          </a:p>
        </p:txBody>
      </p:sp>
      <p:sp>
        <p:nvSpPr>
          <p:cNvPr id="26" name="Text 23"/>
          <p:cNvSpPr txBox="1"/>
          <p:nvPr/>
        </p:nvSpPr>
        <p:spPr>
          <a:xfrm>
            <a:off x="342900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Regional language support.</a:t>
            </a:r>
            <a:endParaRPr lang="en-US" sz="1000" dirty="0"/>
          </a:p>
        </p:txBody>
      </p:sp>
      <p:sp>
        <p:nvSpPr>
          <p:cNvPr id="27" name="Shape 24"/>
          <p:cNvSpPr/>
          <p:nvPr/>
        </p:nvSpPr>
        <p:spPr>
          <a:xfrm>
            <a:off x="6035040" y="2606040"/>
            <a:ext cx="2651760" cy="1371600"/>
          </a:xfrm>
          <a:prstGeom prst="roundRect">
            <a:avLst>
              <a:gd name="adj" fmla="val 5333"/>
            </a:avLst>
          </a:prstGeom>
          <a:solidFill>
            <a:srgbClr val="FFFFFF"/>
          </a:solidFill>
          <a:ln w="9525">
            <a:solidFill>
              <a:srgbClr val="DDE4EC"/>
            </a:solidFill>
            <a:prstDash val="solid"/>
          </a:ln>
        </p:spPr>
      </p:sp>
      <p:sp>
        <p:nvSpPr>
          <p:cNvPr id="28" name="Shape 25"/>
          <p:cNvSpPr/>
          <p:nvPr/>
        </p:nvSpPr>
        <p:spPr>
          <a:xfrm>
            <a:off x="6035040" y="2697480"/>
            <a:ext cx="54864" cy="1188720"/>
          </a:xfrm>
          <a:prstGeom prst="rect">
            <a:avLst/>
          </a:prstGeom>
          <a:solidFill>
            <a:srgbClr val="1F7A9C"/>
          </a:solidFill>
          <a:ln w="12700">
            <a:solidFill>
              <a:srgbClr val="1F7A9C"/>
            </a:solidFill>
            <a:prstDash val="solid"/>
          </a:ln>
        </p:spPr>
      </p:sp>
      <p:sp>
        <p:nvSpPr>
          <p:cNvPr id="29" name="Text 26"/>
          <p:cNvSpPr txBox="1"/>
          <p:nvPr/>
        </p:nvSpPr>
        <p:spPr>
          <a:xfrm>
            <a:off x="6217920" y="2697480"/>
            <a:ext cx="2377440" cy="274320"/>
          </a:xfrm>
          <a:prstGeom prst="rect">
            <a:avLst/>
          </a:prstGeom>
          <a:noFill/>
          <a:ln/>
        </p:spPr>
        <p:txBody>
          <a:bodyPr wrap="square" lIns="0" tIns="0" rIns="0" bIns="0" rtlCol="0" anchor="ctr"/>
          <a:lstStyle/>
          <a:p>
            <a:pPr indent="0" marL="0">
              <a:buNone/>
            </a:pPr>
            <a:r>
              <a:rPr lang="en-US" sz="1200" b="1" dirty="0">
                <a:solidFill>
                  <a:srgbClr val="1E2A5E"/>
                </a:solidFill>
              </a:rPr>
              <a:t>Analytics</a:t>
            </a:r>
            <a:endParaRPr lang="en-US" sz="1200" dirty="0"/>
          </a:p>
        </p:txBody>
      </p:sp>
      <p:sp>
        <p:nvSpPr>
          <p:cNvPr id="30" name="Text 27"/>
          <p:cNvSpPr txBox="1"/>
          <p:nvPr/>
        </p:nvSpPr>
        <p:spPr>
          <a:xfrm>
            <a:off x="6217920" y="2990088"/>
            <a:ext cx="2377440" cy="914400"/>
          </a:xfrm>
          <a:prstGeom prst="rect">
            <a:avLst/>
          </a:prstGeom>
          <a:noFill/>
          <a:ln/>
        </p:spPr>
        <p:txBody>
          <a:bodyPr wrap="square" lIns="0" tIns="0" rIns="0" bIns="0" rtlCol="0" anchor="t"/>
          <a:lstStyle/>
          <a:p>
            <a:pPr indent="0" marL="0">
              <a:buNone/>
            </a:pPr>
            <a:r>
              <a:rPr lang="en-US" sz="1000" dirty="0">
                <a:solidFill>
                  <a:srgbClr val="2B3445"/>
                </a:solidFill>
              </a:rPr>
              <a:t>Operator reports on routes.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23</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Conclusion &amp; Thank You</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22</a:t>
            </a:r>
            <a:endParaRPr lang="en-US" sz="900" dirty="0"/>
          </a:p>
        </p:txBody>
      </p:sp>
      <p:sp>
        <p:nvSpPr>
          <p:cNvPr id="7" name="Text 4"/>
          <p:cNvSpPr txBox="1"/>
          <p:nvPr/>
        </p:nvSpPr>
        <p:spPr>
          <a:xfrm>
            <a:off x="457200" y="1051560"/>
            <a:ext cx="8229600" cy="1005840"/>
          </a:xfrm>
          <a:prstGeom prst="rect">
            <a:avLst/>
          </a:prstGeom>
          <a:noFill/>
          <a:ln/>
        </p:spPr>
        <p:txBody>
          <a:bodyPr wrap="square" lIns="0" tIns="0" rIns="0" bIns="0" rtlCol="0" anchor="t"/>
          <a:lstStyle/>
          <a:p>
            <a:pPr indent="0" marL="0">
              <a:buNone/>
            </a:pPr>
            <a:r>
              <a:rPr lang="en-US" sz="1200" dirty="0">
                <a:solidFill>
                  <a:srgbClr val="2B3445"/>
                </a:solidFill>
              </a:rPr>
              <a:t>The Public Transport Live Tracker gives passengers live bus location and estimated arrival times, reducing uncertainty and waiting, and centralizes vehicles, routes, stops and schedules for operators. It applies web development, databases, APIs and real-time data processing to a practical need.</a:t>
            </a:r>
            <a:endParaRPr lang="en-US" sz="1200" dirty="0"/>
          </a:p>
        </p:txBody>
      </p:sp>
      <p:sp>
        <p:nvSpPr>
          <p:cNvPr id="8" name="Shape 5"/>
          <p:cNvSpPr/>
          <p:nvPr/>
        </p:nvSpPr>
        <p:spPr>
          <a:xfrm>
            <a:off x="457200" y="2240280"/>
            <a:ext cx="4023360" cy="731520"/>
          </a:xfrm>
          <a:prstGeom prst="roundRect">
            <a:avLst>
              <a:gd name="adj" fmla="val 10000"/>
            </a:avLst>
          </a:prstGeom>
          <a:solidFill>
            <a:srgbClr val="FFFFFF"/>
          </a:solidFill>
          <a:ln w="9525">
            <a:solidFill>
              <a:srgbClr val="DDE4EC"/>
            </a:solidFill>
            <a:prstDash val="solid"/>
          </a:ln>
        </p:spPr>
      </p:sp>
      <p:sp>
        <p:nvSpPr>
          <p:cNvPr id="9" name="Shape 6"/>
          <p:cNvSpPr/>
          <p:nvPr/>
        </p:nvSpPr>
        <p:spPr>
          <a:xfrm>
            <a:off x="457200" y="2331720"/>
            <a:ext cx="54864" cy="548640"/>
          </a:xfrm>
          <a:prstGeom prst="rect">
            <a:avLst/>
          </a:prstGeom>
          <a:solidFill>
            <a:srgbClr val="E8A33D"/>
          </a:solidFill>
          <a:ln w="12700">
            <a:solidFill>
              <a:srgbClr val="E8A33D"/>
            </a:solidFill>
            <a:prstDash val="solid"/>
          </a:ln>
        </p:spPr>
      </p:sp>
      <p:sp>
        <p:nvSpPr>
          <p:cNvPr id="10" name="Text 7"/>
          <p:cNvSpPr txBox="1"/>
          <p:nvPr/>
        </p:nvSpPr>
        <p:spPr>
          <a:xfrm>
            <a:off x="640080" y="2331720"/>
            <a:ext cx="3749040" cy="274320"/>
          </a:xfrm>
          <a:prstGeom prst="rect">
            <a:avLst/>
          </a:prstGeom>
          <a:noFill/>
          <a:ln/>
        </p:spPr>
        <p:txBody>
          <a:bodyPr wrap="square" lIns="0" tIns="0" rIns="0" bIns="0" rtlCol="0" anchor="ctr"/>
          <a:lstStyle/>
          <a:p>
            <a:pPr indent="0" marL="0">
              <a:buNone/>
            </a:pPr>
            <a:r>
              <a:rPr lang="en-US" sz="1200" b="1" dirty="0">
                <a:solidFill>
                  <a:srgbClr val="1E2A5E"/>
                </a:solidFill>
              </a:rPr>
              <a:t>✓  Real-time location and ETA</a:t>
            </a:r>
            <a:endParaRPr lang="en-US" sz="1200" dirty="0"/>
          </a:p>
        </p:txBody>
      </p:sp>
      <p:sp>
        <p:nvSpPr>
          <p:cNvPr id="11" name="Shape 8"/>
          <p:cNvSpPr/>
          <p:nvPr/>
        </p:nvSpPr>
        <p:spPr>
          <a:xfrm>
            <a:off x="4663440" y="2240280"/>
            <a:ext cx="4023360" cy="731520"/>
          </a:xfrm>
          <a:prstGeom prst="roundRect">
            <a:avLst>
              <a:gd name="adj" fmla="val 10000"/>
            </a:avLst>
          </a:prstGeom>
          <a:solidFill>
            <a:srgbClr val="FFFFFF"/>
          </a:solidFill>
          <a:ln w="9525">
            <a:solidFill>
              <a:srgbClr val="DDE4EC"/>
            </a:solidFill>
            <a:prstDash val="solid"/>
          </a:ln>
        </p:spPr>
      </p:sp>
      <p:sp>
        <p:nvSpPr>
          <p:cNvPr id="12" name="Shape 9"/>
          <p:cNvSpPr/>
          <p:nvPr/>
        </p:nvSpPr>
        <p:spPr>
          <a:xfrm>
            <a:off x="4663440" y="2331720"/>
            <a:ext cx="54864" cy="548640"/>
          </a:xfrm>
          <a:prstGeom prst="rect">
            <a:avLst/>
          </a:prstGeom>
          <a:solidFill>
            <a:srgbClr val="1F7A9C"/>
          </a:solidFill>
          <a:ln w="12700">
            <a:solidFill>
              <a:srgbClr val="1F7A9C"/>
            </a:solidFill>
            <a:prstDash val="solid"/>
          </a:ln>
        </p:spPr>
      </p:sp>
      <p:sp>
        <p:nvSpPr>
          <p:cNvPr id="13" name="Text 10"/>
          <p:cNvSpPr txBox="1"/>
          <p:nvPr/>
        </p:nvSpPr>
        <p:spPr>
          <a:xfrm>
            <a:off x="4846320" y="2331720"/>
            <a:ext cx="3749040" cy="274320"/>
          </a:xfrm>
          <a:prstGeom prst="rect">
            <a:avLst/>
          </a:prstGeom>
          <a:noFill/>
          <a:ln/>
        </p:spPr>
        <p:txBody>
          <a:bodyPr wrap="square" lIns="0" tIns="0" rIns="0" bIns="0" rtlCol="0" anchor="ctr"/>
          <a:lstStyle/>
          <a:p>
            <a:pPr indent="0" marL="0">
              <a:buNone/>
            </a:pPr>
            <a:r>
              <a:rPr lang="en-US" sz="1200" b="1" dirty="0">
                <a:solidFill>
                  <a:srgbClr val="1E2A5E"/>
                </a:solidFill>
              </a:rPr>
              <a:t>✓  Less waiting and uncertainty</a:t>
            </a:r>
            <a:endParaRPr lang="en-US" sz="1200" dirty="0"/>
          </a:p>
        </p:txBody>
      </p:sp>
      <p:sp>
        <p:nvSpPr>
          <p:cNvPr id="14" name="Shape 11"/>
          <p:cNvSpPr/>
          <p:nvPr/>
        </p:nvSpPr>
        <p:spPr>
          <a:xfrm>
            <a:off x="457200" y="3108960"/>
            <a:ext cx="4023360" cy="731520"/>
          </a:xfrm>
          <a:prstGeom prst="roundRect">
            <a:avLst>
              <a:gd name="adj" fmla="val 10000"/>
            </a:avLst>
          </a:prstGeom>
          <a:solidFill>
            <a:srgbClr val="FFFFFF"/>
          </a:solidFill>
          <a:ln w="9525">
            <a:solidFill>
              <a:srgbClr val="DDE4EC"/>
            </a:solidFill>
            <a:prstDash val="solid"/>
          </a:ln>
        </p:spPr>
      </p:sp>
      <p:sp>
        <p:nvSpPr>
          <p:cNvPr id="15" name="Shape 12"/>
          <p:cNvSpPr/>
          <p:nvPr/>
        </p:nvSpPr>
        <p:spPr>
          <a:xfrm>
            <a:off x="457200" y="3200400"/>
            <a:ext cx="54864" cy="548640"/>
          </a:xfrm>
          <a:prstGeom prst="rect">
            <a:avLst/>
          </a:prstGeom>
          <a:solidFill>
            <a:srgbClr val="E8A33D"/>
          </a:solidFill>
          <a:ln w="12700">
            <a:solidFill>
              <a:srgbClr val="E8A33D"/>
            </a:solidFill>
            <a:prstDash val="solid"/>
          </a:ln>
        </p:spPr>
      </p:sp>
      <p:sp>
        <p:nvSpPr>
          <p:cNvPr id="16" name="Text 13"/>
          <p:cNvSpPr txBox="1"/>
          <p:nvPr/>
        </p:nvSpPr>
        <p:spPr>
          <a:xfrm>
            <a:off x="640080" y="3200400"/>
            <a:ext cx="3749040" cy="274320"/>
          </a:xfrm>
          <a:prstGeom prst="rect">
            <a:avLst/>
          </a:prstGeom>
          <a:noFill/>
          <a:ln/>
        </p:spPr>
        <p:txBody>
          <a:bodyPr wrap="square" lIns="0" tIns="0" rIns="0" bIns="0" rtlCol="0" anchor="ctr"/>
          <a:lstStyle/>
          <a:p>
            <a:pPr indent="0" marL="0">
              <a:buNone/>
            </a:pPr>
            <a:r>
              <a:rPr lang="en-US" sz="1200" b="1" dirty="0">
                <a:solidFill>
                  <a:srgbClr val="1E2A5E"/>
                </a:solidFill>
              </a:rPr>
              <a:t>✓  Centralized transport data</a:t>
            </a:r>
            <a:endParaRPr lang="en-US" sz="1200" dirty="0"/>
          </a:p>
        </p:txBody>
      </p:sp>
      <p:sp>
        <p:nvSpPr>
          <p:cNvPr id="17" name="Shape 14"/>
          <p:cNvSpPr/>
          <p:nvPr/>
        </p:nvSpPr>
        <p:spPr>
          <a:xfrm>
            <a:off x="4663440" y="3108960"/>
            <a:ext cx="4023360" cy="731520"/>
          </a:xfrm>
          <a:prstGeom prst="roundRect">
            <a:avLst>
              <a:gd name="adj" fmla="val 10000"/>
            </a:avLst>
          </a:prstGeom>
          <a:solidFill>
            <a:srgbClr val="FFFFFF"/>
          </a:solidFill>
          <a:ln w="9525">
            <a:solidFill>
              <a:srgbClr val="DDE4EC"/>
            </a:solidFill>
            <a:prstDash val="solid"/>
          </a:ln>
        </p:spPr>
      </p:sp>
      <p:sp>
        <p:nvSpPr>
          <p:cNvPr id="18" name="Shape 15"/>
          <p:cNvSpPr/>
          <p:nvPr/>
        </p:nvSpPr>
        <p:spPr>
          <a:xfrm>
            <a:off x="4663440" y="3200400"/>
            <a:ext cx="54864" cy="548640"/>
          </a:xfrm>
          <a:prstGeom prst="rect">
            <a:avLst/>
          </a:prstGeom>
          <a:solidFill>
            <a:srgbClr val="1F7A9C"/>
          </a:solidFill>
          <a:ln w="12700">
            <a:solidFill>
              <a:srgbClr val="1F7A9C"/>
            </a:solidFill>
            <a:prstDash val="solid"/>
          </a:ln>
        </p:spPr>
      </p:sp>
      <p:sp>
        <p:nvSpPr>
          <p:cNvPr id="19" name="Text 16"/>
          <p:cNvSpPr txBox="1"/>
          <p:nvPr/>
        </p:nvSpPr>
        <p:spPr>
          <a:xfrm>
            <a:off x="4846320" y="3200400"/>
            <a:ext cx="3749040" cy="274320"/>
          </a:xfrm>
          <a:prstGeom prst="rect">
            <a:avLst/>
          </a:prstGeom>
          <a:noFill/>
          <a:ln/>
        </p:spPr>
        <p:txBody>
          <a:bodyPr wrap="square" lIns="0" tIns="0" rIns="0" bIns="0" rtlCol="0" anchor="ctr"/>
          <a:lstStyle/>
          <a:p>
            <a:pPr indent="0" marL="0">
              <a:buNone/>
            </a:pPr>
            <a:r>
              <a:rPr lang="en-US" sz="1200" b="1" dirty="0">
                <a:solidFill>
                  <a:srgbClr val="1E2A5E"/>
                </a:solidFill>
              </a:rPr>
              <a:t>✓  Reliable, user-friendly service</a:t>
            </a:r>
            <a:endParaRPr lang="en-US" sz="1200" dirty="0"/>
          </a:p>
        </p:txBody>
      </p:sp>
      <p:sp>
        <p:nvSpPr>
          <p:cNvPr id="20" name="Text 17"/>
          <p:cNvSpPr txBox="1"/>
          <p:nvPr/>
        </p:nvSpPr>
        <p:spPr>
          <a:xfrm>
            <a:off x="457200" y="4114800"/>
            <a:ext cx="8229600" cy="365760"/>
          </a:xfrm>
          <a:prstGeom prst="rect">
            <a:avLst/>
          </a:prstGeom>
          <a:noFill/>
          <a:ln/>
        </p:spPr>
        <p:txBody>
          <a:bodyPr wrap="square" lIns="0" tIns="0" rIns="0" bIns="0" rtlCol="0" anchor="ctr"/>
          <a:lstStyle/>
          <a:p>
            <a:pPr algn="ctr" indent="0" marL="0">
              <a:buNone/>
            </a:pPr>
            <a:r>
              <a:rPr lang="en-US" sz="1400" b="1" dirty="0">
                <a:solidFill>
                  <a:srgbClr val="1E2A5E"/>
                </a:solidFill>
              </a:rPr>
              <a:t>Thank You  ·  Questions &amp; Discussion</a:t>
            </a:r>
            <a:endParaRPr lang="en-US" sz="1400" dirty="0"/>
          </a:p>
        </p:txBody>
      </p:sp>
      <p:sp>
        <p:nvSpPr>
          <p:cNvPr id="21" name="Text 18"/>
          <p:cNvSpPr txBox="1"/>
          <p:nvPr/>
        </p:nvSpPr>
        <p:spPr>
          <a:xfrm>
            <a:off x="457200" y="4434840"/>
            <a:ext cx="8229600" cy="274320"/>
          </a:xfrm>
          <a:prstGeom prst="rect">
            <a:avLst/>
          </a:prstGeom>
          <a:noFill/>
          <a:ln/>
        </p:spPr>
        <p:txBody>
          <a:bodyPr wrap="square" lIns="0" tIns="0" rIns="0" bIns="0" rtlCol="0" anchor="ctr"/>
          <a:lstStyle/>
          <a:p>
            <a:pPr algn="ctr" indent="0" marL="0">
              <a:buNone/>
            </a:pPr>
            <a:r>
              <a:rPr lang="en-US" sz="1100" dirty="0">
                <a:solidFill>
                  <a:srgbClr val="55627A"/>
                </a:solidFill>
              </a:rPr>
              <a:t>T Siddarth  ·  R Manikanta  ·  P Suvishal</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457200" y="201168"/>
            <a:ext cx="2743200" cy="228600"/>
          </a:xfrm>
          <a:prstGeom prst="rect">
            <a:avLst/>
          </a:prstGeom>
          <a:noFill/>
          <a:ln/>
        </p:spPr>
        <p:txBody>
          <a:bodyPr wrap="square" lIns="0" tIns="0" rIns="0" bIns="0" rtlCol="0" anchor="ctr"/>
          <a:lstStyle/>
          <a:p>
            <a:pPr indent="0" marL="0">
              <a:buNone/>
            </a:pPr>
            <a:r>
              <a:rPr lang="en-US" sz="900" b="1" spc="200" kern="0" dirty="0">
                <a:solidFill>
                  <a:srgbClr val="E8A33D"/>
                </a:solidFill>
              </a:rPr>
              <a:t>SLIDE 24</a:t>
            </a:r>
            <a:endParaRPr lang="en-US" sz="900" dirty="0"/>
          </a:p>
        </p:txBody>
      </p:sp>
      <p:sp>
        <p:nvSpPr>
          <p:cNvPr id="3" name="Text 1"/>
          <p:cNvSpPr txBox="1"/>
          <p:nvPr/>
        </p:nvSpPr>
        <p:spPr>
          <a:xfrm>
            <a:off x="457200" y="438912"/>
            <a:ext cx="6949440" cy="502920"/>
          </a:xfrm>
          <a:prstGeom prst="rect">
            <a:avLst/>
          </a:prstGeom>
          <a:noFill/>
          <a:ln/>
        </p:spPr>
        <p:txBody>
          <a:bodyPr wrap="square" lIns="0" tIns="0" rIns="0" bIns="0" rtlCol="0" anchor="ctr"/>
          <a:lstStyle/>
          <a:p>
            <a:pPr indent="0" marL="0">
              <a:buNone/>
            </a:pPr>
            <a:r>
              <a:rPr lang="en-US" sz="2200" b="1" dirty="0">
                <a:solidFill>
                  <a:srgbClr val="1E2A5E"/>
                </a:solidFill>
                <a:latin typeface="Georgia" pitchFamily="34" charset="0"/>
                <a:ea typeface="Georgia" pitchFamily="34" charset="-122"/>
                <a:cs typeface="Georgia" pitchFamily="34" charset="-120"/>
              </a:rPr>
              <a:t>References</a:t>
            </a:r>
            <a:endParaRPr lang="en-US" sz="2200" dirty="0"/>
          </a:p>
        </p:txBody>
      </p:sp>
      <p:pic>
        <p:nvPicPr>
          <p:cNvPr id="4" name="Image 0" descr="logo.png">    </p:cNvPr>
          <p:cNvPicPr>
            <a:picLocks noChangeAspect="1"/>
          </p:cNvPicPr>
          <p:nvPr/>
        </p:nvPicPr>
        <p:blipFill>
          <a:blip r:embed="rId1"/>
          <a:stretch>
            <a:fillRect/>
          </a:stretch>
        </p:blipFill>
        <p:spPr>
          <a:xfrm>
            <a:off x="7589520" y="182880"/>
            <a:ext cx="1097280" cy="438912"/>
          </a:xfrm>
          <a:prstGeom prst="rect">
            <a:avLst/>
          </a:prstGeom>
        </p:spPr>
      </p:pic>
      <p:sp>
        <p:nvSpPr>
          <p:cNvPr id="5" name="Text 2"/>
          <p:cNvSpPr txBox="1"/>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7A8699"/>
                </a:solidFill>
              </a:rPr>
              <a:t>Public Transport Live Tracker</a:t>
            </a:r>
            <a:endParaRPr lang="en-US" sz="900" dirty="0"/>
          </a:p>
        </p:txBody>
      </p:sp>
      <p:sp>
        <p:nvSpPr>
          <p:cNvPr id="6" name="Text 3"/>
          <p:cNvSpPr txBox="1"/>
          <p:nvPr/>
        </p:nvSpPr>
        <p:spPr>
          <a:xfrm>
            <a:off x="8138160" y="4828032"/>
            <a:ext cx="548640" cy="228600"/>
          </a:xfrm>
          <a:prstGeom prst="rect">
            <a:avLst/>
          </a:prstGeom>
          <a:noFill/>
          <a:ln/>
        </p:spPr>
        <p:txBody>
          <a:bodyPr wrap="square" lIns="0" tIns="0" rIns="0" bIns="0" rtlCol="0" anchor="ctr"/>
          <a:lstStyle/>
          <a:p>
            <a:pPr algn="r" indent="0" marL="0">
              <a:buNone/>
            </a:pPr>
            <a:r>
              <a:rPr lang="en-US" sz="900" dirty="0">
                <a:solidFill>
                  <a:srgbClr val="7A8699"/>
                </a:solidFill>
              </a:rPr>
              <a:t>23</a:t>
            </a:r>
            <a:endParaRPr lang="en-US" sz="900" dirty="0"/>
          </a:p>
        </p:txBody>
      </p:sp>
      <p:sp>
        <p:nvSpPr>
          <p:cNvPr id="7" name="Text 4"/>
          <p:cNvSpPr txBox="1"/>
          <p:nvPr/>
        </p:nvSpPr>
        <p:spPr>
          <a:xfrm>
            <a:off x="457200" y="987552"/>
            <a:ext cx="8229600" cy="274320"/>
          </a:xfrm>
          <a:prstGeom prst="rect">
            <a:avLst/>
          </a:prstGeom>
          <a:noFill/>
          <a:ln/>
        </p:spPr>
        <p:txBody>
          <a:bodyPr wrap="square" lIns="0" tIns="0" rIns="0" bIns="0" rtlCol="0" anchor="ctr"/>
          <a:lstStyle/>
          <a:p>
            <a:pPr indent="0" marL="0">
              <a:buNone/>
            </a:pPr>
            <a:r>
              <a:rPr lang="en-US" sz="1100" i="1" dirty="0">
                <a:solidFill>
                  <a:srgbClr val="55627A"/>
                </a:solidFill>
              </a:rPr>
              <a:t>To complete: replace with your department's required citation style.</a:t>
            </a:r>
            <a:endParaRPr lang="en-US" sz="1100" dirty="0"/>
          </a:p>
        </p:txBody>
      </p:sp>
      <p:sp>
        <p:nvSpPr>
          <p:cNvPr id="8" name="Shape 5"/>
          <p:cNvSpPr/>
          <p:nvPr/>
        </p:nvSpPr>
        <p:spPr>
          <a:xfrm>
            <a:off x="457200" y="1371600"/>
            <a:ext cx="8229600" cy="640080"/>
          </a:xfrm>
          <a:prstGeom prst="roundRect">
            <a:avLst>
              <a:gd name="adj" fmla="val 8571"/>
            </a:avLst>
          </a:prstGeom>
          <a:solidFill>
            <a:srgbClr val="FFFFFF"/>
          </a:solidFill>
          <a:ln w="9525">
            <a:solidFill>
              <a:srgbClr val="DDE4EC"/>
            </a:solidFill>
            <a:prstDash val="solid"/>
          </a:ln>
        </p:spPr>
      </p:sp>
      <p:sp>
        <p:nvSpPr>
          <p:cNvPr id="9" name="Shape 6"/>
          <p:cNvSpPr/>
          <p:nvPr/>
        </p:nvSpPr>
        <p:spPr>
          <a:xfrm>
            <a:off x="594360" y="1536192"/>
            <a:ext cx="310896" cy="310896"/>
          </a:xfrm>
          <a:prstGeom prst="ellipse">
            <a:avLst/>
          </a:prstGeom>
          <a:solidFill>
            <a:srgbClr val="0B5C80"/>
          </a:solidFill>
          <a:ln w="12700">
            <a:solidFill>
              <a:srgbClr val="0B5C80"/>
            </a:solidFill>
            <a:prstDash val="solid"/>
          </a:ln>
        </p:spPr>
      </p:sp>
      <p:sp>
        <p:nvSpPr>
          <p:cNvPr id="10" name="Text 7"/>
          <p:cNvSpPr txBox="1"/>
          <p:nvPr/>
        </p:nvSpPr>
        <p:spPr>
          <a:xfrm>
            <a:off x="594360"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Text 8"/>
          <p:cNvSpPr txBox="1"/>
          <p:nvPr/>
        </p:nvSpPr>
        <p:spPr>
          <a:xfrm>
            <a:off x="1051560" y="137160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MDN Web Docs.  </a:t>
            </a:r>
            <a:pPr indent="0" marL="0">
              <a:buNone/>
            </a:pPr>
            <a:r>
              <a:rPr lang="en-US" sz="1050" dirty="0">
                <a:solidFill>
                  <a:srgbClr val="2B3445"/>
                </a:solidFill>
              </a:rPr>
              <a:t>HTML, CSS, JavaScript and Geolocation documentation.</a:t>
            </a:r>
            <a:endParaRPr lang="en-US" sz="1050" dirty="0"/>
          </a:p>
        </p:txBody>
      </p:sp>
      <p:sp>
        <p:nvSpPr>
          <p:cNvPr id="12" name="Shape 9"/>
          <p:cNvSpPr/>
          <p:nvPr/>
        </p:nvSpPr>
        <p:spPr>
          <a:xfrm>
            <a:off x="457200" y="2103120"/>
            <a:ext cx="8229600" cy="640080"/>
          </a:xfrm>
          <a:prstGeom prst="roundRect">
            <a:avLst>
              <a:gd name="adj" fmla="val 8571"/>
            </a:avLst>
          </a:prstGeom>
          <a:solidFill>
            <a:srgbClr val="FFFFFF"/>
          </a:solidFill>
          <a:ln w="9525">
            <a:solidFill>
              <a:srgbClr val="DDE4EC"/>
            </a:solidFill>
            <a:prstDash val="solid"/>
          </a:ln>
        </p:spPr>
      </p:sp>
      <p:sp>
        <p:nvSpPr>
          <p:cNvPr id="13" name="Shape 10"/>
          <p:cNvSpPr/>
          <p:nvPr/>
        </p:nvSpPr>
        <p:spPr>
          <a:xfrm>
            <a:off x="594360" y="2267712"/>
            <a:ext cx="310896" cy="310896"/>
          </a:xfrm>
          <a:prstGeom prst="ellipse">
            <a:avLst/>
          </a:prstGeom>
          <a:solidFill>
            <a:srgbClr val="0B5C80"/>
          </a:solidFill>
          <a:ln w="12700">
            <a:solidFill>
              <a:srgbClr val="0B5C80"/>
            </a:solidFill>
            <a:prstDash val="solid"/>
          </a:ln>
        </p:spPr>
      </p:sp>
      <p:sp>
        <p:nvSpPr>
          <p:cNvPr id="14" name="Text 11"/>
          <p:cNvSpPr txBox="1"/>
          <p:nvPr/>
        </p:nvSpPr>
        <p:spPr>
          <a:xfrm>
            <a:off x="594360" y="22677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5" name="Text 12"/>
          <p:cNvSpPr txBox="1"/>
          <p:nvPr/>
        </p:nvSpPr>
        <p:spPr>
          <a:xfrm>
            <a:off x="1051560" y="210312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REST API design.  </a:t>
            </a:r>
            <a:pPr indent="0" marL="0">
              <a:buNone/>
            </a:pPr>
            <a:r>
              <a:rPr lang="en-US" sz="1050" dirty="0">
                <a:solidFill>
                  <a:srgbClr val="2B3445"/>
                </a:solidFill>
              </a:rPr>
              <a:t>Web API design guidelines and HTTP documentation.</a:t>
            </a:r>
            <a:endParaRPr lang="en-US" sz="1050" dirty="0"/>
          </a:p>
        </p:txBody>
      </p:sp>
      <p:sp>
        <p:nvSpPr>
          <p:cNvPr id="16" name="Shape 13"/>
          <p:cNvSpPr/>
          <p:nvPr/>
        </p:nvSpPr>
        <p:spPr>
          <a:xfrm>
            <a:off x="457200" y="2834640"/>
            <a:ext cx="8229600" cy="640080"/>
          </a:xfrm>
          <a:prstGeom prst="roundRect">
            <a:avLst>
              <a:gd name="adj" fmla="val 8571"/>
            </a:avLst>
          </a:prstGeom>
          <a:solidFill>
            <a:srgbClr val="FFFFFF"/>
          </a:solidFill>
          <a:ln w="9525">
            <a:solidFill>
              <a:srgbClr val="DDE4EC"/>
            </a:solidFill>
            <a:prstDash val="solid"/>
          </a:ln>
        </p:spPr>
      </p:sp>
      <p:sp>
        <p:nvSpPr>
          <p:cNvPr id="17" name="Shape 14"/>
          <p:cNvSpPr/>
          <p:nvPr/>
        </p:nvSpPr>
        <p:spPr>
          <a:xfrm>
            <a:off x="594360" y="2999232"/>
            <a:ext cx="310896" cy="310896"/>
          </a:xfrm>
          <a:prstGeom prst="ellipse">
            <a:avLst/>
          </a:prstGeom>
          <a:solidFill>
            <a:srgbClr val="0B5C80"/>
          </a:solidFill>
          <a:ln w="12700">
            <a:solidFill>
              <a:srgbClr val="0B5C80"/>
            </a:solidFill>
            <a:prstDash val="solid"/>
          </a:ln>
        </p:spPr>
      </p:sp>
      <p:sp>
        <p:nvSpPr>
          <p:cNvPr id="18" name="Text 15"/>
          <p:cNvSpPr txBox="1"/>
          <p:nvPr/>
        </p:nvSpPr>
        <p:spPr>
          <a:xfrm>
            <a:off x="594360" y="29992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9" name="Text 16"/>
          <p:cNvSpPr txBox="1"/>
          <p:nvPr/>
        </p:nvSpPr>
        <p:spPr>
          <a:xfrm>
            <a:off x="1051560" y="283464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Database design.  </a:t>
            </a:r>
            <a:pPr indent="0" marL="0">
              <a:buNone/>
            </a:pPr>
            <a:r>
              <a:rPr lang="en-US" sz="1050" dirty="0">
                <a:solidFill>
                  <a:srgbClr val="2B3445"/>
                </a:solidFill>
              </a:rPr>
              <a:t>Relational schema design and normalization textbooks.</a:t>
            </a:r>
            <a:endParaRPr lang="en-US" sz="1050" dirty="0"/>
          </a:p>
        </p:txBody>
      </p:sp>
      <p:sp>
        <p:nvSpPr>
          <p:cNvPr id="20" name="Shape 17"/>
          <p:cNvSpPr/>
          <p:nvPr/>
        </p:nvSpPr>
        <p:spPr>
          <a:xfrm>
            <a:off x="457200" y="3566160"/>
            <a:ext cx="8229600" cy="640080"/>
          </a:xfrm>
          <a:prstGeom prst="roundRect">
            <a:avLst>
              <a:gd name="adj" fmla="val 8571"/>
            </a:avLst>
          </a:prstGeom>
          <a:solidFill>
            <a:srgbClr val="FFFFFF"/>
          </a:solidFill>
          <a:ln w="9525">
            <a:solidFill>
              <a:srgbClr val="DDE4EC"/>
            </a:solidFill>
            <a:prstDash val="solid"/>
          </a:ln>
        </p:spPr>
      </p:sp>
      <p:sp>
        <p:nvSpPr>
          <p:cNvPr id="21" name="Shape 18"/>
          <p:cNvSpPr/>
          <p:nvPr/>
        </p:nvSpPr>
        <p:spPr>
          <a:xfrm>
            <a:off x="594360" y="3730752"/>
            <a:ext cx="310896" cy="310896"/>
          </a:xfrm>
          <a:prstGeom prst="ellipse">
            <a:avLst/>
          </a:prstGeom>
          <a:solidFill>
            <a:srgbClr val="0B5C80"/>
          </a:solidFill>
          <a:ln w="12700">
            <a:solidFill>
              <a:srgbClr val="0B5C80"/>
            </a:solidFill>
            <a:prstDash val="solid"/>
          </a:ln>
        </p:spPr>
      </p:sp>
      <p:sp>
        <p:nvSpPr>
          <p:cNvPr id="22" name="Text 19"/>
          <p:cNvSpPr txBox="1"/>
          <p:nvPr/>
        </p:nvSpPr>
        <p:spPr>
          <a:xfrm>
            <a:off x="594360" y="3730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3" name="Text 20"/>
          <p:cNvSpPr txBox="1"/>
          <p:nvPr/>
        </p:nvSpPr>
        <p:spPr>
          <a:xfrm>
            <a:off x="1051560" y="3566160"/>
            <a:ext cx="7498080" cy="640080"/>
          </a:xfrm>
          <a:prstGeom prst="rect">
            <a:avLst/>
          </a:prstGeom>
          <a:noFill/>
          <a:ln/>
        </p:spPr>
        <p:txBody>
          <a:bodyPr wrap="square" lIns="0" tIns="0" rIns="0" bIns="0" rtlCol="0" anchor="ctr"/>
          <a:lstStyle/>
          <a:p>
            <a:pPr indent="0" marL="0">
              <a:buNone/>
            </a:pPr>
            <a:r>
              <a:rPr lang="en-US" sz="1050" b="1" dirty="0">
                <a:solidFill>
                  <a:srgbClr val="1E2A5E"/>
                </a:solidFill>
              </a:rPr>
              <a:t>GPS tracking.  </a:t>
            </a:r>
            <a:pPr indent="0" marL="0">
              <a:buNone/>
            </a:pPr>
            <a:r>
              <a:rPr lang="en-US" sz="1050" dirty="0">
                <a:solidFill>
                  <a:srgbClr val="2B3445"/>
                </a:solidFill>
              </a:rPr>
              <a:t>Research papers on vehicle tracking and ETA prediction (add specific citations).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2026-10-03T04:06:32Z</dcterms:created>
  <dcterms:modified xsi:type="dcterms:W3CDTF">2026-10-03T04:06:32Z</dcterms:modified>
</cp:coreProperties>
</file>